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embeddedFontLst>
    <p:embeddedFont>
      <p:font typeface="Dela Gothic One" panose="020B0604020202020204" charset="-128"/>
      <p:regular r:id="rId29"/>
    </p:embeddedFont>
    <p:embeddedFont>
      <p:font typeface="Consolas" panose="020B0609020204030204" pitchFamily="49" charset="0"/>
      <p:regular r:id="rId30"/>
      <p:bold r:id="rId31"/>
      <p:italic r:id="rId32"/>
      <p:boldItalic r:id="rId33"/>
    </p:embeddedFont>
    <p:embeddedFont>
      <p:font typeface="DM Sans" pitchFamily="2" charset="0"/>
      <p:regular r:id="rId34"/>
      <p:bold r:id="rId35"/>
      <p: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57D0D4-5477-4B1E-9E32-086F3D5378E6}" v="26" dt="2026-05-10T16:25:32.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yansh kumar" userId="bfbdac1682e9f07a" providerId="LiveId" clId="{5B3789BE-7FCA-47F7-AE54-36948545F7A4}"/>
    <pc:docChg chg="undo custSel addSld delSld modSld modShowInfo">
      <pc:chgData name="prayansh kumar" userId="bfbdac1682e9f07a" providerId="LiveId" clId="{5B3789BE-7FCA-47F7-AE54-36948545F7A4}" dt="2026-05-10T16:35:05.098" v="60" actId="2744"/>
      <pc:docMkLst>
        <pc:docMk/>
      </pc:docMkLst>
      <pc:sldChg chg="add">
        <pc:chgData name="prayansh kumar" userId="bfbdac1682e9f07a" providerId="LiveId" clId="{5B3789BE-7FCA-47F7-AE54-36948545F7A4}" dt="2026-05-10T16:18:57.295" v="0"/>
        <pc:sldMkLst>
          <pc:docMk/>
          <pc:sldMk cId="3500085139" sldId="260"/>
        </pc:sldMkLst>
      </pc:sldChg>
      <pc:sldChg chg="modSp add mod">
        <pc:chgData name="prayansh kumar" userId="bfbdac1682e9f07a" providerId="LiveId" clId="{5B3789BE-7FCA-47F7-AE54-36948545F7A4}" dt="2026-05-10T16:19:26.741" v="12" actId="1076"/>
        <pc:sldMkLst>
          <pc:docMk/>
          <pc:sldMk cId="357874519" sldId="261"/>
        </pc:sldMkLst>
        <pc:picChg chg="mod">
          <ac:chgData name="prayansh kumar" userId="bfbdac1682e9f07a" providerId="LiveId" clId="{5B3789BE-7FCA-47F7-AE54-36948545F7A4}" dt="2026-05-10T16:19:26.741" v="12" actId="1076"/>
          <ac:picMkLst>
            <pc:docMk/>
            <pc:sldMk cId="357874519" sldId="261"/>
            <ac:picMk id="3" creationId="{00000000-0000-0000-0000-000000000000}"/>
          </ac:picMkLst>
        </pc:picChg>
      </pc:sldChg>
      <pc:sldChg chg="add">
        <pc:chgData name="prayansh kumar" userId="bfbdac1682e9f07a" providerId="LiveId" clId="{5B3789BE-7FCA-47F7-AE54-36948545F7A4}" dt="2026-05-10T16:18:59.600" v="2"/>
        <pc:sldMkLst>
          <pc:docMk/>
          <pc:sldMk cId="1905805446" sldId="262"/>
        </pc:sldMkLst>
      </pc:sldChg>
      <pc:sldChg chg="modSp add mod">
        <pc:chgData name="prayansh kumar" userId="bfbdac1682e9f07a" providerId="LiveId" clId="{5B3789BE-7FCA-47F7-AE54-36948545F7A4}" dt="2026-05-10T16:19:15.084" v="8" actId="1076"/>
        <pc:sldMkLst>
          <pc:docMk/>
          <pc:sldMk cId="1561211103" sldId="263"/>
        </pc:sldMkLst>
        <pc:picChg chg="mod">
          <ac:chgData name="prayansh kumar" userId="bfbdac1682e9f07a" providerId="LiveId" clId="{5B3789BE-7FCA-47F7-AE54-36948545F7A4}" dt="2026-05-10T16:19:15.084" v="8" actId="1076"/>
          <ac:picMkLst>
            <pc:docMk/>
            <pc:sldMk cId="1561211103" sldId="263"/>
            <ac:picMk id="3" creationId="{00000000-0000-0000-0000-000000000000}"/>
          </ac:picMkLst>
        </pc:picChg>
      </pc:sldChg>
      <pc:sldChg chg="add del">
        <pc:chgData name="prayansh kumar" userId="bfbdac1682e9f07a" providerId="LiveId" clId="{5B3789BE-7FCA-47F7-AE54-36948545F7A4}" dt="2026-05-10T16:19:44.039" v="14"/>
        <pc:sldMkLst>
          <pc:docMk/>
          <pc:sldMk cId="1721256071" sldId="264"/>
        </pc:sldMkLst>
      </pc:sldChg>
      <pc:sldChg chg="add">
        <pc:chgData name="prayansh kumar" userId="bfbdac1682e9f07a" providerId="LiveId" clId="{5B3789BE-7FCA-47F7-AE54-36948545F7A4}" dt="2026-05-10T16:19:48.855" v="15"/>
        <pc:sldMkLst>
          <pc:docMk/>
          <pc:sldMk cId="3017017173" sldId="264"/>
        </pc:sldMkLst>
      </pc:sldChg>
      <pc:sldChg chg="add">
        <pc:chgData name="prayansh kumar" userId="bfbdac1682e9f07a" providerId="LiveId" clId="{5B3789BE-7FCA-47F7-AE54-36948545F7A4}" dt="2026-05-10T16:19:49.887" v="16"/>
        <pc:sldMkLst>
          <pc:docMk/>
          <pc:sldMk cId="2417289953" sldId="265"/>
        </pc:sldMkLst>
      </pc:sldChg>
      <pc:sldChg chg="add">
        <pc:chgData name="prayansh kumar" userId="bfbdac1682e9f07a" providerId="LiveId" clId="{5B3789BE-7FCA-47F7-AE54-36948545F7A4}" dt="2026-05-10T16:19:50.719" v="17"/>
        <pc:sldMkLst>
          <pc:docMk/>
          <pc:sldMk cId="2801142643" sldId="266"/>
        </pc:sldMkLst>
      </pc:sldChg>
      <pc:sldChg chg="modSp add mod">
        <pc:chgData name="prayansh kumar" userId="bfbdac1682e9f07a" providerId="LiveId" clId="{5B3789BE-7FCA-47F7-AE54-36948545F7A4}" dt="2026-05-10T16:19:55.054" v="19" actId="14100"/>
        <pc:sldMkLst>
          <pc:docMk/>
          <pc:sldMk cId="2506701236" sldId="267"/>
        </pc:sldMkLst>
        <pc:picChg chg="mod">
          <ac:chgData name="prayansh kumar" userId="bfbdac1682e9f07a" providerId="LiveId" clId="{5B3789BE-7FCA-47F7-AE54-36948545F7A4}" dt="2026-05-10T16:19:55.054" v="19" actId="14100"/>
          <ac:picMkLst>
            <pc:docMk/>
            <pc:sldMk cId="2506701236" sldId="267"/>
            <ac:picMk id="17" creationId="{00000000-0000-0000-0000-000000000000}"/>
          </ac:picMkLst>
        </pc:picChg>
      </pc:sldChg>
      <pc:sldChg chg="add">
        <pc:chgData name="prayansh kumar" userId="bfbdac1682e9f07a" providerId="LiveId" clId="{5B3789BE-7FCA-47F7-AE54-36948545F7A4}" dt="2026-05-10T16:20:15.448" v="20"/>
        <pc:sldMkLst>
          <pc:docMk/>
          <pc:sldMk cId="2061943932" sldId="268"/>
        </pc:sldMkLst>
      </pc:sldChg>
      <pc:sldChg chg="add">
        <pc:chgData name="prayansh kumar" userId="bfbdac1682e9f07a" providerId="LiveId" clId="{5B3789BE-7FCA-47F7-AE54-36948545F7A4}" dt="2026-05-10T16:20:17.189" v="21"/>
        <pc:sldMkLst>
          <pc:docMk/>
          <pc:sldMk cId="4293929447" sldId="269"/>
        </pc:sldMkLst>
      </pc:sldChg>
      <pc:sldChg chg="add">
        <pc:chgData name="prayansh kumar" userId="bfbdac1682e9f07a" providerId="LiveId" clId="{5B3789BE-7FCA-47F7-AE54-36948545F7A4}" dt="2026-05-10T16:20:18.350" v="22"/>
        <pc:sldMkLst>
          <pc:docMk/>
          <pc:sldMk cId="2729995667" sldId="270"/>
        </pc:sldMkLst>
      </pc:sldChg>
      <pc:sldChg chg="add">
        <pc:chgData name="prayansh kumar" userId="bfbdac1682e9f07a" providerId="LiveId" clId="{5B3789BE-7FCA-47F7-AE54-36948545F7A4}" dt="2026-05-10T16:20:19.329" v="23"/>
        <pc:sldMkLst>
          <pc:docMk/>
          <pc:sldMk cId="4250390637" sldId="271"/>
        </pc:sldMkLst>
      </pc:sldChg>
      <pc:sldChg chg="add">
        <pc:chgData name="prayansh kumar" userId="bfbdac1682e9f07a" providerId="LiveId" clId="{5B3789BE-7FCA-47F7-AE54-36948545F7A4}" dt="2026-05-10T16:20:26.398" v="24"/>
        <pc:sldMkLst>
          <pc:docMk/>
          <pc:sldMk cId="455643554" sldId="272"/>
        </pc:sldMkLst>
      </pc:sldChg>
      <pc:sldChg chg="add">
        <pc:chgData name="prayansh kumar" userId="bfbdac1682e9f07a" providerId="LiveId" clId="{5B3789BE-7FCA-47F7-AE54-36948545F7A4}" dt="2026-05-10T16:20:27.011" v="25"/>
        <pc:sldMkLst>
          <pc:docMk/>
          <pc:sldMk cId="2186162798" sldId="273"/>
        </pc:sldMkLst>
      </pc:sldChg>
      <pc:sldChg chg="add">
        <pc:chgData name="prayansh kumar" userId="bfbdac1682e9f07a" providerId="LiveId" clId="{5B3789BE-7FCA-47F7-AE54-36948545F7A4}" dt="2026-05-10T16:20:27.799" v="26"/>
        <pc:sldMkLst>
          <pc:docMk/>
          <pc:sldMk cId="3401280761" sldId="274"/>
        </pc:sldMkLst>
      </pc:sldChg>
      <pc:sldChg chg="add">
        <pc:chgData name="prayansh kumar" userId="bfbdac1682e9f07a" providerId="LiveId" clId="{5B3789BE-7FCA-47F7-AE54-36948545F7A4}" dt="2026-05-10T16:20:28.405" v="27"/>
        <pc:sldMkLst>
          <pc:docMk/>
          <pc:sldMk cId="2272544806" sldId="275"/>
        </pc:sldMkLst>
      </pc:sldChg>
      <pc:sldChg chg="add">
        <pc:chgData name="prayansh kumar" userId="bfbdac1682e9f07a" providerId="LiveId" clId="{5B3789BE-7FCA-47F7-AE54-36948545F7A4}" dt="2026-05-10T16:20:28.961" v="28"/>
        <pc:sldMkLst>
          <pc:docMk/>
          <pc:sldMk cId="1450636857" sldId="276"/>
        </pc:sldMkLst>
      </pc:sldChg>
      <pc:sldChg chg="add">
        <pc:chgData name="prayansh kumar" userId="bfbdac1682e9f07a" providerId="LiveId" clId="{5B3789BE-7FCA-47F7-AE54-36948545F7A4}" dt="2026-05-10T16:20:29.720" v="29"/>
        <pc:sldMkLst>
          <pc:docMk/>
          <pc:sldMk cId="1109185724" sldId="277"/>
        </pc:sldMkLst>
      </pc:sldChg>
      <pc:sldChg chg="add">
        <pc:chgData name="prayansh kumar" userId="bfbdac1682e9f07a" providerId="LiveId" clId="{5B3789BE-7FCA-47F7-AE54-36948545F7A4}" dt="2026-05-10T16:20:30.232" v="30"/>
        <pc:sldMkLst>
          <pc:docMk/>
          <pc:sldMk cId="2309431872" sldId="278"/>
        </pc:sldMkLst>
      </pc:sldChg>
      <pc:sldChg chg="add">
        <pc:chgData name="prayansh kumar" userId="bfbdac1682e9f07a" providerId="LiveId" clId="{5B3789BE-7FCA-47F7-AE54-36948545F7A4}" dt="2026-05-10T16:20:31.233" v="31"/>
        <pc:sldMkLst>
          <pc:docMk/>
          <pc:sldMk cId="4154512756" sldId="279"/>
        </pc:sldMkLst>
      </pc:sldChg>
      <pc:sldChg chg="add">
        <pc:chgData name="prayansh kumar" userId="bfbdac1682e9f07a" providerId="LiveId" clId="{5B3789BE-7FCA-47F7-AE54-36948545F7A4}" dt="2026-05-10T16:20:31.777" v="32"/>
        <pc:sldMkLst>
          <pc:docMk/>
          <pc:sldMk cId="3472590353" sldId="280"/>
        </pc:sldMkLst>
      </pc:sldChg>
      <pc:sldChg chg="addSp delSp modSp new del mod">
        <pc:chgData name="prayansh kumar" userId="bfbdac1682e9f07a" providerId="LiveId" clId="{5B3789BE-7FCA-47F7-AE54-36948545F7A4}" dt="2026-05-10T16:21:17.744" v="42" actId="680"/>
        <pc:sldMkLst>
          <pc:docMk/>
          <pc:sldMk cId="60910275" sldId="281"/>
        </pc:sldMkLst>
        <pc:grpChg chg="mod">
          <ac:chgData name="prayansh kumar" userId="bfbdac1682e9f07a" providerId="LiveId" clId="{5B3789BE-7FCA-47F7-AE54-36948545F7A4}" dt="2026-05-10T16:21:17.049" v="40"/>
          <ac:grpSpMkLst>
            <pc:docMk/>
            <pc:sldMk cId="60910275" sldId="281"/>
            <ac:grpSpMk id="4" creationId="{0EDE8114-ACEA-E0CB-615A-ACB3D9DD4D12}"/>
          </ac:grpSpMkLst>
        </pc:grpChg>
        <pc:inkChg chg="add del mod">
          <ac:chgData name="prayansh kumar" userId="bfbdac1682e9f07a" providerId="LiveId" clId="{5B3789BE-7FCA-47F7-AE54-36948545F7A4}" dt="2026-05-10T16:21:17.552" v="41" actId="9405"/>
          <ac:inkMkLst>
            <pc:docMk/>
            <pc:sldMk cId="60910275" sldId="281"/>
            <ac:inkMk id="2" creationId="{D89E83DC-DB5F-1C1E-BF15-DEA5A0D36A2A}"/>
          </ac:inkMkLst>
        </pc:inkChg>
        <pc:inkChg chg="add del mod">
          <ac:chgData name="prayansh kumar" userId="bfbdac1682e9f07a" providerId="LiveId" clId="{5B3789BE-7FCA-47F7-AE54-36948545F7A4}" dt="2026-05-10T16:21:17.049" v="40"/>
          <ac:inkMkLst>
            <pc:docMk/>
            <pc:sldMk cId="60910275" sldId="281"/>
            <ac:inkMk id="3" creationId="{C4DCEFFC-6B27-4719-93E3-8DB218005AF0}"/>
          </ac:inkMkLst>
        </pc:inkChg>
        <pc:inkChg chg="add del">
          <ac:chgData name="prayansh kumar" userId="bfbdac1682e9f07a" providerId="LiveId" clId="{5B3789BE-7FCA-47F7-AE54-36948545F7A4}" dt="2026-05-10T16:21:14.645" v="38" actId="9405"/>
          <ac:inkMkLst>
            <pc:docMk/>
            <pc:sldMk cId="60910275" sldId="281"/>
            <ac:inkMk id="5" creationId="{35889588-59EA-F48E-3175-BA636F43F57C}"/>
          </ac:inkMkLst>
        </pc:inkChg>
      </pc:sldChg>
      <pc:sldChg chg="add">
        <pc:chgData name="prayansh kumar" userId="bfbdac1682e9f07a" providerId="LiveId" clId="{5B3789BE-7FCA-47F7-AE54-36948545F7A4}" dt="2026-05-10T16:25:32.568" v="59"/>
        <pc:sldMkLst>
          <pc:docMk/>
          <pc:sldMk cId="465808551" sldId="281"/>
        </pc:sldMkLst>
      </pc:sldChg>
      <pc:sldChg chg="addSp modSp new del mod">
        <pc:chgData name="prayansh kumar" userId="bfbdac1682e9f07a" providerId="LiveId" clId="{5B3789BE-7FCA-47F7-AE54-36948545F7A4}" dt="2026-05-10T16:24:51.610" v="58" actId="2696"/>
        <pc:sldMkLst>
          <pc:docMk/>
          <pc:sldMk cId="750679067" sldId="281"/>
        </pc:sldMkLst>
        <pc:picChg chg="add mod">
          <ac:chgData name="prayansh kumar" userId="bfbdac1682e9f07a" providerId="LiveId" clId="{5B3789BE-7FCA-47F7-AE54-36948545F7A4}" dt="2026-05-10T16:24:18.676" v="57" actId="14100"/>
          <ac:picMkLst>
            <pc:docMk/>
            <pc:sldMk cId="750679067" sldId="281"/>
            <ac:picMk id="3" creationId="{C5B83025-E313-D9A7-3E18-C8B215DE9EA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531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9454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090849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80548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745789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149635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08564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63891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75251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736235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79014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89417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9973317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37474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26680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5125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317399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333365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66364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4734327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049407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387932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925869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2334146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9526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2852526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1252663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A0A0A">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564022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4.sv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26.svg"/><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66502" y="479375"/>
            <a:ext cx="4781996" cy="1315343"/>
          </a:xfrm>
          <a:prstGeom prst="rect">
            <a:avLst/>
          </a:prstGeom>
          <a:noFill/>
          <a:ln/>
        </p:spPr>
        <p:txBody>
          <a:bodyPr wrap="square" lIns="0" tIns="0" rIns="0" bIns="0" rtlCol="0" anchor="t"/>
          <a:lstStyle/>
          <a:p>
            <a:pPr marL="0" indent="0" algn="l">
              <a:lnSpc>
                <a:spcPts val="3450"/>
              </a:lnSpc>
              <a:buNone/>
            </a:pPr>
            <a:r>
              <a:rPr lang="en-US" sz="2750" dirty="0">
                <a:solidFill>
                  <a:srgbClr val="FAEBEB"/>
                </a:solidFill>
                <a:latin typeface="Dela Gothic One" pitchFamily="34" charset="0"/>
                <a:ea typeface="Dela Gothic One" pitchFamily="34" charset="-122"/>
                <a:cs typeface="Dela Gothic One" pitchFamily="34" charset="-120"/>
              </a:rPr>
              <a:t>Analyzing the (In)Accessibility of Online Advertisements</a:t>
            </a:r>
            <a:endParaRPr lang="en-US" sz="2750" dirty="0"/>
          </a:p>
        </p:txBody>
      </p:sp>
      <p:sp>
        <p:nvSpPr>
          <p:cNvPr id="4" name="Text 1"/>
          <p:cNvSpPr/>
          <p:nvPr/>
        </p:nvSpPr>
        <p:spPr>
          <a:xfrm>
            <a:off x="466502" y="1847180"/>
            <a:ext cx="3273921" cy="219224"/>
          </a:xfrm>
          <a:prstGeom prst="rect">
            <a:avLst/>
          </a:prstGeom>
          <a:noFill/>
          <a:ln/>
        </p:spPr>
        <p:txBody>
          <a:bodyPr wrap="none" lIns="0" tIns="0" rIns="0" bIns="0" rtlCol="0" anchor="t"/>
          <a:lstStyle/>
          <a:p>
            <a:pPr marL="0" indent="0" algn="l">
              <a:lnSpc>
                <a:spcPts val="1700"/>
              </a:lnSpc>
              <a:buNone/>
            </a:pPr>
            <a:r>
              <a:rPr lang="en-US" sz="1350" dirty="0">
                <a:solidFill>
                  <a:srgbClr val="FAEBEB"/>
                </a:solidFill>
                <a:latin typeface="Dela Gothic One" pitchFamily="34" charset="0"/>
                <a:ea typeface="Dela Gothic One" pitchFamily="34" charset="-122"/>
                <a:cs typeface="Dela Gothic One" pitchFamily="34" charset="-120"/>
              </a:rPr>
              <a:t>A Measurement and User Study</a:t>
            </a:r>
            <a:endParaRPr lang="en-US" sz="1350" dirty="0"/>
          </a:p>
        </p:txBody>
      </p:sp>
      <p:sp>
        <p:nvSpPr>
          <p:cNvPr id="5" name="Text 2"/>
          <p:cNvSpPr/>
          <p:nvPr/>
        </p:nvSpPr>
        <p:spPr>
          <a:xfrm>
            <a:off x="466502" y="2263155"/>
            <a:ext cx="4781996" cy="211559"/>
          </a:xfrm>
          <a:prstGeom prst="rect">
            <a:avLst/>
          </a:prstGeom>
          <a:noFill/>
          <a:ln/>
        </p:spPr>
        <p:txBody>
          <a:bodyPr wrap="none" lIns="0" tIns="0" rIns="0" bIns="0" rtlCol="0" anchor="t"/>
          <a:lstStyle/>
          <a:p>
            <a:pPr marL="0" indent="0" algn="l">
              <a:lnSpc>
                <a:spcPts val="1650"/>
              </a:lnSpc>
              <a:buNone/>
            </a:pPr>
            <a:r>
              <a:rPr lang="en-US" sz="1000" i="1" dirty="0">
                <a:solidFill>
                  <a:srgbClr val="FFE5E5"/>
                </a:solidFill>
                <a:latin typeface="DM Sans" pitchFamily="34" charset="0"/>
                <a:ea typeface="DM Sans" pitchFamily="34" charset="-122"/>
                <a:cs typeface="DM Sans" pitchFamily="34" charset="-120"/>
              </a:rPr>
              <a:t>ACM Internet Measurement Conference (IMC) 2024</a:t>
            </a:r>
            <a:endParaRPr lang="en-US" sz="1000" dirty="0"/>
          </a:p>
        </p:txBody>
      </p:sp>
      <p:sp>
        <p:nvSpPr>
          <p:cNvPr id="6" name="Text 3"/>
          <p:cNvSpPr/>
          <p:nvPr/>
        </p:nvSpPr>
        <p:spPr>
          <a:xfrm>
            <a:off x="466502" y="2622277"/>
            <a:ext cx="4781996" cy="2041773"/>
          </a:xfrm>
          <a:prstGeom prst="rect">
            <a:avLst/>
          </a:prstGeom>
          <a:noFill/>
          <a:ln/>
        </p:spPr>
        <p:txBody>
          <a:bodyPr wrap="square" lIns="0" tIns="0" rIns="0" bIns="0" rtlCol="0" anchor="t"/>
          <a:lstStyle/>
          <a:p>
            <a:pPr marL="342900" indent="-342900" algn="l">
              <a:lnSpc>
                <a:spcPts val="1650"/>
              </a:lnSpc>
              <a:buSzPct val="100000"/>
              <a:buChar char="•"/>
            </a:pPr>
            <a:r>
              <a:rPr lang="en-US" sz="1000" dirty="0">
                <a:solidFill>
                  <a:srgbClr val="FFE5E5"/>
                </a:solidFill>
                <a:latin typeface="DM Sans" pitchFamily="34" charset="0"/>
                <a:ea typeface="DM Sans" pitchFamily="34" charset="-122"/>
                <a:cs typeface="DM Sans" pitchFamily="34" charset="-120"/>
              </a:rPr>
              <a:t>The Ad-Driven Web: Online advertising is a massive industry, with US advertisers spending nearly </a:t>
            </a:r>
            <a:r>
              <a:rPr lang="en-US" sz="1000" b="1" dirty="0">
                <a:solidFill>
                  <a:srgbClr val="C91313"/>
                </a:solidFill>
                <a:latin typeface="DM Sans" pitchFamily="34" charset="0"/>
                <a:ea typeface="DM Sans" pitchFamily="34" charset="-122"/>
                <a:cs typeface="DM Sans" pitchFamily="34" charset="-120"/>
              </a:rPr>
              <a:t>$300 billion in 2024</a:t>
            </a:r>
            <a:r>
              <a:rPr lang="en-US" sz="1000" dirty="0">
                <a:solidFill>
                  <a:srgbClr val="FFE5E5"/>
                </a:solidFill>
                <a:latin typeface="DM Sans" pitchFamily="34" charset="0"/>
                <a:ea typeface="DM Sans" pitchFamily="34" charset="-122"/>
                <a:cs typeface="DM Sans" pitchFamily="34" charset="-120"/>
              </a:rPr>
              <a:t>.</a:t>
            </a:r>
            <a:endParaRPr lang="en-US" sz="1000" dirty="0"/>
          </a:p>
          <a:p>
            <a:pPr marL="342900" indent="-342900" algn="l">
              <a:lnSpc>
                <a:spcPts val="1650"/>
              </a:lnSpc>
              <a:buSzPct val="100000"/>
              <a:buChar char="•"/>
            </a:pPr>
            <a:r>
              <a:rPr lang="en-US" sz="1000" dirty="0">
                <a:solidFill>
                  <a:srgbClr val="FFE5E5"/>
                </a:solidFill>
                <a:latin typeface="DM Sans" pitchFamily="34" charset="0"/>
                <a:ea typeface="DM Sans" pitchFamily="34" charset="-122"/>
                <a:cs typeface="DM Sans" pitchFamily="34" charset="-120"/>
              </a:rPr>
              <a:t>The Visual Bias: Ads are predominantly designed for sighted audiences, utilizing complex images, videos, and visual layouts to convey information.</a:t>
            </a:r>
            <a:endParaRPr lang="en-US" sz="1000" dirty="0"/>
          </a:p>
          <a:p>
            <a:pPr marL="342900" indent="-342900" algn="l">
              <a:lnSpc>
                <a:spcPts val="1650"/>
              </a:lnSpc>
              <a:buSzPct val="100000"/>
              <a:buChar char="•"/>
            </a:pPr>
            <a:r>
              <a:rPr lang="en-US" sz="1000" dirty="0">
                <a:solidFill>
                  <a:srgbClr val="FFE5E5"/>
                </a:solidFill>
                <a:latin typeface="DM Sans" pitchFamily="34" charset="0"/>
                <a:ea typeface="DM Sans" pitchFamily="34" charset="-122"/>
                <a:cs typeface="DM Sans" pitchFamily="34" charset="-120"/>
              </a:rPr>
              <a:t>The Research Gap: This visual bias poses severe challenges for users navigating the web via screen readers.</a:t>
            </a:r>
            <a:endParaRPr lang="en-US" sz="1000" dirty="0"/>
          </a:p>
          <a:p>
            <a:pPr marL="342900" indent="-342900" algn="l">
              <a:lnSpc>
                <a:spcPts val="1650"/>
              </a:lnSpc>
              <a:buSzPct val="100000"/>
              <a:buChar char="•"/>
            </a:pPr>
            <a:r>
              <a:rPr lang="en-US" sz="1000" dirty="0">
                <a:solidFill>
                  <a:srgbClr val="FFE5E5"/>
                </a:solidFill>
                <a:latin typeface="DM Sans" pitchFamily="34" charset="0"/>
                <a:ea typeface="DM Sans" pitchFamily="34" charset="-122"/>
                <a:cs typeface="DM Sans" pitchFamily="34" charset="-120"/>
              </a:rPr>
              <a:t>The Study's Approach: A </a:t>
            </a:r>
            <a:r>
              <a:rPr lang="en-US" sz="1000" b="1" dirty="0">
                <a:solidFill>
                  <a:srgbClr val="FFE5E5"/>
                </a:solidFill>
                <a:latin typeface="DM Sans" pitchFamily="34" charset="0"/>
                <a:ea typeface="DM Sans" pitchFamily="34" charset="-122"/>
                <a:cs typeface="DM Sans" pitchFamily="34" charset="-120"/>
              </a:rPr>
              <a:t>mixed-method study</a:t>
            </a:r>
            <a:r>
              <a:rPr lang="en-US" sz="1000" dirty="0">
                <a:solidFill>
                  <a:srgbClr val="FFE5E5"/>
                </a:solidFill>
                <a:latin typeface="DM Sans" pitchFamily="34" charset="0"/>
                <a:ea typeface="DM Sans" pitchFamily="34" charset="-122"/>
                <a:cs typeface="DM Sans" pitchFamily="34" charset="-120"/>
              </a:rPr>
              <a:t> combining a web measurement of 90 popular websites and in-depth interviews with 13 blind participants.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3943" y="1111821"/>
            <a:ext cx="5000253"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Motivation &amp; Prior Work</a:t>
            </a:r>
            <a:endParaRPr lang="en-US" sz="2800" dirty="0"/>
          </a:p>
        </p:txBody>
      </p:sp>
      <p:sp>
        <p:nvSpPr>
          <p:cNvPr id="3" name="Text 1"/>
          <p:cNvSpPr/>
          <p:nvPr/>
        </p:nvSpPr>
        <p:spPr>
          <a:xfrm>
            <a:off x="473943" y="1895698"/>
            <a:ext cx="2325514"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Historical Context</a:t>
            </a:r>
            <a:endParaRPr lang="en-US" sz="1650" dirty="0"/>
          </a:p>
        </p:txBody>
      </p:sp>
      <p:sp>
        <p:nvSpPr>
          <p:cNvPr id="4" name="Text 2"/>
          <p:cNvSpPr/>
          <p:nvPr/>
        </p:nvSpPr>
        <p:spPr>
          <a:xfrm>
            <a:off x="473943" y="2298278"/>
            <a:ext cx="3932858"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Inaccessibility is not a new issue in digital advertising. Research dating back over two decades reveals persistent problems:</a:t>
            </a:r>
            <a:endParaRPr lang="en-US" sz="1050" dirty="0"/>
          </a:p>
        </p:txBody>
      </p:sp>
      <p:sp>
        <p:nvSpPr>
          <p:cNvPr id="5" name="Text 3"/>
          <p:cNvSpPr/>
          <p:nvPr/>
        </p:nvSpPr>
        <p:spPr>
          <a:xfrm>
            <a:off x="473943" y="3070175"/>
            <a:ext cx="3932858" cy="914102"/>
          </a:xfrm>
          <a:prstGeom prst="rect">
            <a:avLst/>
          </a:prstGeom>
          <a:noFill/>
          <a:ln/>
        </p:spPr>
        <p:txBody>
          <a:bodyPr wrap="square" lIns="0" tIns="0" rIns="0" bIns="0" rtlCol="0" anchor="t"/>
          <a:lstStyle/>
          <a:p>
            <a:pPr marL="342900" indent="-342900" algn="l">
              <a:lnSpc>
                <a:spcPts val="1700"/>
              </a:lnSpc>
              <a:buSzPct val="100000"/>
              <a:buChar char="•"/>
            </a:pPr>
            <a:r>
              <a:rPr lang="en-US" sz="1050" dirty="0">
                <a:solidFill>
                  <a:srgbClr val="FFE5E5"/>
                </a:solidFill>
                <a:latin typeface="DM Sans" pitchFamily="34" charset="0"/>
                <a:ea typeface="DM Sans" pitchFamily="34" charset="-122"/>
                <a:cs typeface="DM Sans" pitchFamily="34" charset="-120"/>
              </a:rPr>
              <a:t>In 2001, studies found that </a:t>
            </a:r>
            <a:r>
              <a:rPr lang="en-US" sz="1050" b="1" dirty="0">
                <a:solidFill>
                  <a:srgbClr val="C91313"/>
                </a:solidFill>
                <a:latin typeface="DM Sans" pitchFamily="34" charset="0"/>
                <a:ea typeface="DM Sans" pitchFamily="34" charset="-122"/>
                <a:cs typeface="DM Sans" pitchFamily="34" charset="-120"/>
              </a:rPr>
              <a:t>half of the ads</a:t>
            </a:r>
            <a:r>
              <a:rPr lang="en-US" sz="1050" dirty="0">
                <a:solidFill>
                  <a:srgbClr val="FFE5E5"/>
                </a:solidFill>
                <a:latin typeface="DM Sans" pitchFamily="34" charset="0"/>
                <a:ea typeface="DM Sans" pitchFamily="34" charset="-122"/>
                <a:cs typeface="DM Sans" pitchFamily="34" charset="-120"/>
              </a:rPr>
              <a:t> on news websites completely lacked "alt-text" for images.</a:t>
            </a:r>
            <a:endParaRPr lang="en-US" sz="1050" dirty="0"/>
          </a:p>
          <a:p>
            <a:pPr marL="342900" indent="-342900" algn="l">
              <a:lnSpc>
                <a:spcPts val="1700"/>
              </a:lnSpc>
              <a:buSzPct val="100000"/>
              <a:buChar char="•"/>
            </a:pPr>
            <a:r>
              <a:rPr lang="en-US" sz="1050" dirty="0">
                <a:solidFill>
                  <a:srgbClr val="FFE5E5"/>
                </a:solidFill>
                <a:latin typeface="DM Sans" pitchFamily="34" charset="0"/>
                <a:ea typeface="DM Sans" pitchFamily="34" charset="-122"/>
                <a:cs typeface="DM Sans" pitchFamily="34" charset="-120"/>
              </a:rPr>
              <a:t>More recent studies have identified "</a:t>
            </a:r>
            <a:r>
              <a:rPr lang="en-US" sz="1050" b="1" dirty="0">
                <a:solidFill>
                  <a:srgbClr val="C91313"/>
                </a:solidFill>
                <a:latin typeface="DM Sans" pitchFamily="34" charset="0"/>
                <a:ea typeface="DM Sans" pitchFamily="34" charset="-122"/>
                <a:cs typeface="DM Sans" pitchFamily="34" charset="-120"/>
              </a:rPr>
              <a:t>dark patterns</a:t>
            </a:r>
            <a:r>
              <a:rPr lang="en-US" sz="1050" dirty="0">
                <a:solidFill>
                  <a:srgbClr val="FFE5E5"/>
                </a:solidFill>
                <a:latin typeface="DM Sans" pitchFamily="34" charset="0"/>
                <a:ea typeface="DM Sans" pitchFamily="34" charset="-122"/>
                <a:cs typeface="DM Sans" pitchFamily="34" charset="-120"/>
              </a:rPr>
              <a:t>" in online ads that actively confuse screen reader users.</a:t>
            </a:r>
            <a:endParaRPr lang="en-US" sz="1050" dirty="0"/>
          </a:p>
        </p:txBody>
      </p:sp>
      <p:sp>
        <p:nvSpPr>
          <p:cNvPr id="6" name="Text 4"/>
          <p:cNvSpPr/>
          <p:nvPr/>
        </p:nvSpPr>
        <p:spPr>
          <a:xfrm>
            <a:off x="4741962" y="1895698"/>
            <a:ext cx="2473375"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Platform Behaviors</a:t>
            </a:r>
            <a:endParaRPr lang="en-US" sz="1650" dirty="0"/>
          </a:p>
        </p:txBody>
      </p:sp>
      <p:sp>
        <p:nvSpPr>
          <p:cNvPr id="7" name="Text 5"/>
          <p:cNvSpPr/>
          <p:nvPr/>
        </p:nvSpPr>
        <p:spPr>
          <a:xfrm>
            <a:off x="4741962" y="2298278"/>
            <a:ext cx="3932858"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structure of the web can be manipulated to hide information from assistive technologies:</a:t>
            </a:r>
            <a:endParaRPr lang="en-US" sz="1050" dirty="0"/>
          </a:p>
        </p:txBody>
      </p:sp>
      <p:sp>
        <p:nvSpPr>
          <p:cNvPr id="8" name="Text 6"/>
          <p:cNvSpPr/>
          <p:nvPr/>
        </p:nvSpPr>
        <p:spPr>
          <a:xfrm>
            <a:off x="4741962" y="2853482"/>
            <a:ext cx="3932858" cy="1130796"/>
          </a:xfrm>
          <a:prstGeom prst="rect">
            <a:avLst/>
          </a:prstGeom>
          <a:noFill/>
          <a:ln/>
        </p:spPr>
        <p:txBody>
          <a:bodyPr wrap="square" lIns="0" tIns="0" rIns="0" bIns="0" rtlCol="0" anchor="t"/>
          <a:lstStyle/>
          <a:p>
            <a:pPr marL="342900" indent="-342900" algn="l">
              <a:lnSpc>
                <a:spcPts val="1700"/>
              </a:lnSpc>
              <a:buSzPct val="100000"/>
              <a:buChar char="•"/>
            </a:pPr>
            <a:r>
              <a:rPr lang="en-US" sz="1050" dirty="0">
                <a:solidFill>
                  <a:srgbClr val="FFE5E5"/>
                </a:solidFill>
                <a:latin typeface="DM Sans" pitchFamily="34" charset="0"/>
                <a:ea typeface="DM Sans" pitchFamily="34" charset="-122"/>
                <a:cs typeface="DM Sans" pitchFamily="34" charset="-120"/>
              </a:rPr>
              <a:t>Anecdotal reports revealed that Facebook developers previously used HTML structures to </a:t>
            </a:r>
            <a:r>
              <a:rPr lang="en-US" sz="1050" b="1" dirty="0">
                <a:solidFill>
                  <a:srgbClr val="FFE5E5"/>
                </a:solidFill>
                <a:latin typeface="DM Sans" pitchFamily="34" charset="0"/>
                <a:ea typeface="DM Sans" pitchFamily="34" charset="-122"/>
                <a:cs typeface="DM Sans" pitchFamily="34" charset="-120"/>
              </a:rPr>
              <a:t>intentionally prevent third-party ad labels</a:t>
            </a:r>
            <a:r>
              <a:rPr lang="en-US" sz="1050" dirty="0">
                <a:solidFill>
                  <a:srgbClr val="FFE5E5"/>
                </a:solidFill>
                <a:latin typeface="DM Sans" pitchFamily="34" charset="0"/>
                <a:ea typeface="DM Sans" pitchFamily="34" charset="-122"/>
                <a:cs typeface="DM Sans" pitchFamily="34" charset="-120"/>
              </a:rPr>
              <a:t> from being read to blind users.</a:t>
            </a:r>
            <a:endParaRPr lang="en-US" sz="1050" dirty="0"/>
          </a:p>
          <a:p>
            <a:pPr marL="342900" indent="-342900" algn="l">
              <a:lnSpc>
                <a:spcPts val="1700"/>
              </a:lnSpc>
              <a:buSzPct val="100000"/>
              <a:buChar char="•"/>
            </a:pPr>
            <a:r>
              <a:rPr lang="en-US" sz="1050" dirty="0">
                <a:solidFill>
                  <a:srgbClr val="FFE5E5"/>
                </a:solidFill>
                <a:latin typeface="DM Sans" pitchFamily="34" charset="0"/>
                <a:ea typeface="DM Sans" pitchFamily="34" charset="-122"/>
                <a:cs typeface="DM Sans" pitchFamily="34" charset="-120"/>
              </a:rPr>
              <a:t>This behavior persisted for </a:t>
            </a:r>
            <a:r>
              <a:rPr lang="en-US" sz="1050" b="1" dirty="0">
                <a:solidFill>
                  <a:srgbClr val="C91313"/>
                </a:solidFill>
                <a:latin typeface="DM Sans" pitchFamily="34" charset="0"/>
                <a:ea typeface="DM Sans" pitchFamily="34" charset="-122"/>
                <a:cs typeface="DM Sans" pitchFamily="34" charset="-120"/>
              </a:rPr>
              <a:t>two years</a:t>
            </a:r>
            <a:r>
              <a:rPr lang="en-US" sz="1050" dirty="0">
                <a:solidFill>
                  <a:srgbClr val="FFE5E5"/>
                </a:solidFill>
                <a:latin typeface="DM Sans" pitchFamily="34" charset="0"/>
                <a:ea typeface="DM Sans" pitchFamily="34" charset="-122"/>
                <a:cs typeface="DM Sans" pitchFamily="34" charset="-120"/>
              </a:rPr>
              <a:t>, significantly impacting accessibility.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3943" y="571202"/>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The Evaluation Framework: WCAG Standards</a:t>
            </a:r>
            <a:endParaRPr lang="en-US" sz="2800" dirty="0"/>
          </a:p>
        </p:txBody>
      </p:sp>
      <p:sp>
        <p:nvSpPr>
          <p:cNvPr id="3" name="Text 1"/>
          <p:cNvSpPr/>
          <p:nvPr/>
        </p:nvSpPr>
        <p:spPr>
          <a:xfrm>
            <a:off x="473943" y="1732880"/>
            <a:ext cx="8196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researchers evaluated advertisements using the </a:t>
            </a:r>
            <a:r>
              <a:rPr lang="en-US" sz="1050" b="1" dirty="0">
                <a:solidFill>
                  <a:srgbClr val="FFE5E5"/>
                </a:solidFill>
                <a:latin typeface="DM Sans" pitchFamily="34" charset="0"/>
                <a:ea typeface="DM Sans" pitchFamily="34" charset="-122"/>
                <a:cs typeface="DM Sans" pitchFamily="34" charset="-120"/>
              </a:rPr>
              <a:t>Web Content Accessibility Guidelines (WCAG)</a:t>
            </a:r>
            <a:r>
              <a:rPr lang="en-US" sz="1050" dirty="0">
                <a:solidFill>
                  <a:srgbClr val="FFE5E5"/>
                </a:solidFill>
                <a:latin typeface="DM Sans" pitchFamily="34" charset="0"/>
                <a:ea typeface="DM Sans" pitchFamily="34" charset="-122"/>
                <a:cs typeface="DM Sans" pitchFamily="34" charset="-120"/>
              </a:rPr>
              <a:t> developed by the W3C. Their analysis focused on three core principles that define accessible web content:</a:t>
            </a:r>
            <a:endParaRPr lang="en-US" sz="1050" dirty="0"/>
          </a:p>
        </p:txBody>
      </p:sp>
      <p:sp>
        <p:nvSpPr>
          <p:cNvPr id="4" name="Shape 2"/>
          <p:cNvSpPr/>
          <p:nvPr/>
        </p:nvSpPr>
        <p:spPr>
          <a:xfrm>
            <a:off x="473943" y="2318593"/>
            <a:ext cx="2641774" cy="2253704"/>
          </a:xfrm>
          <a:prstGeom prst="roundRect">
            <a:avLst>
              <a:gd name="adj" fmla="val 2524"/>
            </a:avLst>
          </a:prstGeom>
          <a:solidFill>
            <a:srgbClr val="740B0B"/>
          </a:solidFill>
          <a:ln w="4763">
            <a:solidFill>
              <a:srgbClr val="8D2424"/>
            </a:solidFill>
            <a:prstDash val="solid"/>
          </a:ln>
        </p:spPr>
      </p:sp>
      <p:sp>
        <p:nvSpPr>
          <p:cNvPr id="5" name="Shape 3"/>
          <p:cNvSpPr/>
          <p:nvPr/>
        </p:nvSpPr>
        <p:spPr>
          <a:xfrm>
            <a:off x="614065" y="2458715"/>
            <a:ext cx="406226" cy="406226"/>
          </a:xfrm>
          <a:prstGeom prst="roundRect">
            <a:avLst>
              <a:gd name="adj" fmla="val 14067117"/>
            </a:avLst>
          </a:prstGeom>
          <a:solidFill>
            <a:srgbClr val="C91313"/>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5760" y="2570411"/>
            <a:ext cx="182761" cy="182761"/>
          </a:xfrm>
          <a:prstGeom prst="rect">
            <a:avLst/>
          </a:prstGeom>
        </p:spPr>
      </p:pic>
      <p:sp>
        <p:nvSpPr>
          <p:cNvPr id="7" name="Text 4"/>
          <p:cNvSpPr/>
          <p:nvPr/>
        </p:nvSpPr>
        <p:spPr>
          <a:xfrm>
            <a:off x="614065" y="3000301"/>
            <a:ext cx="2138065" cy="26722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Perceivability</a:t>
            </a:r>
            <a:endParaRPr lang="en-US" sz="1650" dirty="0"/>
          </a:p>
        </p:txBody>
      </p:sp>
      <p:sp>
        <p:nvSpPr>
          <p:cNvPr id="8" name="Text 5"/>
          <p:cNvSpPr/>
          <p:nvPr/>
        </p:nvSpPr>
        <p:spPr>
          <a:xfrm>
            <a:off x="614065" y="3348707"/>
            <a:ext cx="2361530"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Must provide alternatives for non-text content, such as </a:t>
            </a:r>
            <a:r>
              <a:rPr lang="en-US" sz="1050" b="1" dirty="0">
                <a:solidFill>
                  <a:srgbClr val="FFE5E5"/>
                </a:solidFill>
                <a:latin typeface="DM Sans" pitchFamily="34" charset="0"/>
                <a:ea typeface="DM Sans" pitchFamily="34" charset="-122"/>
                <a:cs typeface="DM Sans" pitchFamily="34" charset="-120"/>
              </a:rPr>
              <a:t>alt-text for images</a:t>
            </a:r>
            <a:r>
              <a:rPr lang="en-US" sz="1050" dirty="0">
                <a:solidFill>
                  <a:srgbClr val="FFE5E5"/>
                </a:solidFill>
                <a:latin typeface="DM Sans" pitchFamily="34" charset="0"/>
                <a:ea typeface="DM Sans" pitchFamily="34" charset="-122"/>
                <a:cs typeface="DM Sans" pitchFamily="34" charset="-120"/>
              </a:rPr>
              <a:t> or </a:t>
            </a:r>
            <a:r>
              <a:rPr lang="en-US" sz="1050" b="1" dirty="0">
                <a:solidFill>
                  <a:srgbClr val="FFE5E5"/>
                </a:solidFill>
                <a:latin typeface="DM Sans" pitchFamily="34" charset="0"/>
                <a:ea typeface="DM Sans" pitchFamily="34" charset="-122"/>
                <a:cs typeface="DM Sans" pitchFamily="34" charset="-120"/>
              </a:rPr>
              <a:t>ARIA-labels</a:t>
            </a:r>
            <a:r>
              <a:rPr lang="en-US" sz="1050" dirty="0">
                <a:solidFill>
                  <a:srgbClr val="FFE5E5"/>
                </a:solidFill>
                <a:latin typeface="DM Sans" pitchFamily="34" charset="0"/>
                <a:ea typeface="DM Sans" pitchFamily="34" charset="-122"/>
                <a:cs typeface="DM Sans" pitchFamily="34" charset="-120"/>
              </a:rPr>
              <a:t> for interactive elements.</a:t>
            </a:r>
            <a:endParaRPr lang="en-US" sz="1050" dirty="0"/>
          </a:p>
        </p:txBody>
      </p:sp>
      <p:sp>
        <p:nvSpPr>
          <p:cNvPr id="9" name="Shape 6"/>
          <p:cNvSpPr/>
          <p:nvPr/>
        </p:nvSpPr>
        <p:spPr>
          <a:xfrm>
            <a:off x="3251076" y="2318593"/>
            <a:ext cx="2641774" cy="2253704"/>
          </a:xfrm>
          <a:prstGeom prst="roundRect">
            <a:avLst>
              <a:gd name="adj" fmla="val 2524"/>
            </a:avLst>
          </a:prstGeom>
          <a:solidFill>
            <a:srgbClr val="740B0B"/>
          </a:solidFill>
          <a:ln w="4763">
            <a:solidFill>
              <a:srgbClr val="8D2424"/>
            </a:solidFill>
            <a:prstDash val="solid"/>
          </a:ln>
        </p:spPr>
      </p:sp>
      <p:sp>
        <p:nvSpPr>
          <p:cNvPr id="10" name="Shape 7"/>
          <p:cNvSpPr/>
          <p:nvPr/>
        </p:nvSpPr>
        <p:spPr>
          <a:xfrm>
            <a:off x="3391198" y="2458715"/>
            <a:ext cx="406226" cy="406226"/>
          </a:xfrm>
          <a:prstGeom prst="roundRect">
            <a:avLst>
              <a:gd name="adj" fmla="val 14067117"/>
            </a:avLst>
          </a:prstGeom>
          <a:solidFill>
            <a:srgbClr val="C91313"/>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893" y="2570411"/>
            <a:ext cx="182761" cy="182761"/>
          </a:xfrm>
          <a:prstGeom prst="rect">
            <a:avLst/>
          </a:prstGeom>
        </p:spPr>
      </p:pic>
      <p:sp>
        <p:nvSpPr>
          <p:cNvPr id="12" name="Text 8"/>
          <p:cNvSpPr/>
          <p:nvPr/>
        </p:nvSpPr>
        <p:spPr>
          <a:xfrm>
            <a:off x="3391198" y="3000301"/>
            <a:ext cx="2278484" cy="26722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Understandability</a:t>
            </a:r>
            <a:endParaRPr lang="en-US" sz="1650" dirty="0"/>
          </a:p>
        </p:txBody>
      </p:sp>
      <p:sp>
        <p:nvSpPr>
          <p:cNvPr id="13" name="Text 9"/>
          <p:cNvSpPr/>
          <p:nvPr/>
        </p:nvSpPr>
        <p:spPr>
          <a:xfrm>
            <a:off x="3391198" y="3348707"/>
            <a:ext cx="2361530" cy="1083469"/>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Web elements must be clear and identifiable. Does the screen reader user actually know they are </a:t>
            </a:r>
            <a:r>
              <a:rPr lang="en-US" sz="1050" b="1" dirty="0">
                <a:solidFill>
                  <a:srgbClr val="FFE5E5"/>
                </a:solidFill>
                <a:latin typeface="DM Sans" pitchFamily="34" charset="0"/>
                <a:ea typeface="DM Sans" pitchFamily="34" charset="-122"/>
                <a:cs typeface="DM Sans" pitchFamily="34" charset="-120"/>
              </a:rPr>
              <a:t>interacting with a promotional ad</a:t>
            </a:r>
            <a:r>
              <a:rPr lang="en-US" sz="1050" dirty="0">
                <a:solidFill>
                  <a:srgbClr val="FFE5E5"/>
                </a:solidFill>
                <a:latin typeface="DM Sans" pitchFamily="34" charset="0"/>
                <a:ea typeface="DM Sans" pitchFamily="34" charset="-122"/>
                <a:cs typeface="DM Sans" pitchFamily="34" charset="-120"/>
              </a:rPr>
              <a:t> versus regular content?</a:t>
            </a:r>
            <a:endParaRPr lang="en-US" sz="1050" dirty="0"/>
          </a:p>
        </p:txBody>
      </p:sp>
      <p:sp>
        <p:nvSpPr>
          <p:cNvPr id="14" name="Shape 10"/>
          <p:cNvSpPr/>
          <p:nvPr/>
        </p:nvSpPr>
        <p:spPr>
          <a:xfrm>
            <a:off x="6028209" y="2318593"/>
            <a:ext cx="2641848" cy="2253704"/>
          </a:xfrm>
          <a:prstGeom prst="roundRect">
            <a:avLst>
              <a:gd name="adj" fmla="val 2524"/>
            </a:avLst>
          </a:prstGeom>
          <a:solidFill>
            <a:srgbClr val="740B0B"/>
          </a:solidFill>
          <a:ln w="4763">
            <a:solidFill>
              <a:srgbClr val="8D2424"/>
            </a:solidFill>
            <a:prstDash val="solid"/>
          </a:ln>
        </p:spPr>
      </p:sp>
      <p:sp>
        <p:nvSpPr>
          <p:cNvPr id="15" name="Shape 11"/>
          <p:cNvSpPr/>
          <p:nvPr/>
        </p:nvSpPr>
        <p:spPr>
          <a:xfrm>
            <a:off x="6168330" y="2458715"/>
            <a:ext cx="406226" cy="406226"/>
          </a:xfrm>
          <a:prstGeom prst="roundRect">
            <a:avLst>
              <a:gd name="adj" fmla="val 14067117"/>
            </a:avLst>
          </a:prstGeom>
          <a:solidFill>
            <a:srgbClr val="C91313"/>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026" y="2570411"/>
            <a:ext cx="182761" cy="182761"/>
          </a:xfrm>
          <a:prstGeom prst="rect">
            <a:avLst/>
          </a:prstGeom>
        </p:spPr>
      </p:pic>
      <p:sp>
        <p:nvSpPr>
          <p:cNvPr id="17" name="Text 12"/>
          <p:cNvSpPr/>
          <p:nvPr/>
        </p:nvSpPr>
        <p:spPr>
          <a:xfrm>
            <a:off x="6168330" y="3000301"/>
            <a:ext cx="2138065" cy="267221"/>
          </a:xfrm>
          <a:prstGeom prst="rect">
            <a:avLst/>
          </a:prstGeom>
          <a:noFill/>
          <a:ln/>
        </p:spPr>
        <p:txBody>
          <a:bodyPr wrap="none" lIns="0" tIns="0" rIns="0" bIns="0" rtlCol="0" anchor="t"/>
          <a:lstStyle/>
          <a:p>
            <a:pPr marL="0" indent="0" algn="l">
              <a:lnSpc>
                <a:spcPts val="2100"/>
              </a:lnSpc>
              <a:buNone/>
            </a:pPr>
            <a:r>
              <a:rPr lang="en-US" sz="1650" dirty="0">
                <a:solidFill>
                  <a:srgbClr val="FFE5E5"/>
                </a:solidFill>
                <a:latin typeface="Dela Gothic One" pitchFamily="34" charset="0"/>
                <a:ea typeface="Dela Gothic One" pitchFamily="34" charset="-122"/>
                <a:cs typeface="Dela Gothic One" pitchFamily="34" charset="-120"/>
              </a:rPr>
              <a:t>Navigability</a:t>
            </a:r>
            <a:endParaRPr lang="en-US" sz="1650" dirty="0"/>
          </a:p>
        </p:txBody>
      </p:sp>
      <p:sp>
        <p:nvSpPr>
          <p:cNvPr id="18" name="Text 13"/>
          <p:cNvSpPr/>
          <p:nvPr/>
        </p:nvSpPr>
        <p:spPr>
          <a:xfrm>
            <a:off x="6168330" y="3348707"/>
            <a:ext cx="2361605" cy="1083469"/>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Components must be fully functional through simple </a:t>
            </a:r>
            <a:r>
              <a:rPr lang="en-US" sz="1050" b="1" dirty="0">
                <a:solidFill>
                  <a:srgbClr val="FFE5E5"/>
                </a:solidFill>
                <a:latin typeface="DM Sans" pitchFamily="34" charset="0"/>
                <a:ea typeface="DM Sans" pitchFamily="34" charset="-122"/>
                <a:cs typeface="DM Sans" pitchFamily="34" charset="-120"/>
              </a:rPr>
              <a:t>keyboard navigation</a:t>
            </a:r>
            <a:r>
              <a:rPr lang="en-US" sz="1050" dirty="0">
                <a:solidFill>
                  <a:srgbClr val="FFE5E5"/>
                </a:solidFill>
                <a:latin typeface="DM Sans" pitchFamily="34" charset="0"/>
                <a:ea typeface="DM Sans" pitchFamily="34" charset="-122"/>
                <a:cs typeface="DM Sans" pitchFamily="34" charset="-120"/>
              </a:rPr>
              <a:t> without disrupting the user's browsing experience or requiring mouse interaction.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9135" y="462111"/>
            <a:ext cx="8225730" cy="862905"/>
          </a:xfrm>
          <a:prstGeom prst="rect">
            <a:avLst/>
          </a:prstGeom>
          <a:noFill/>
          <a:ln/>
        </p:spPr>
        <p:txBody>
          <a:bodyPr wrap="square" lIns="0" tIns="0" rIns="0" bIns="0" rtlCol="0" anchor="t"/>
          <a:lstStyle/>
          <a:p>
            <a:pPr marL="0" indent="0" algn="l">
              <a:lnSpc>
                <a:spcPts val="3350"/>
              </a:lnSpc>
              <a:buNone/>
            </a:pPr>
            <a:r>
              <a:rPr lang="en-US" sz="2700" dirty="0">
                <a:solidFill>
                  <a:srgbClr val="FAEBEB"/>
                </a:solidFill>
                <a:latin typeface="Dela Gothic One" pitchFamily="34" charset="0"/>
                <a:ea typeface="Dela Gothic One" pitchFamily="34" charset="-122"/>
                <a:cs typeface="Dela Gothic One" pitchFamily="34" charset="-120"/>
              </a:rPr>
              <a:t>The Technical Backbone: The Accessibility Tree</a:t>
            </a:r>
            <a:endParaRPr lang="en-US" sz="2700" dirty="0"/>
          </a:p>
        </p:txBody>
      </p:sp>
      <p:sp>
        <p:nvSpPr>
          <p:cNvPr id="3" name="Text 1"/>
          <p:cNvSpPr/>
          <p:nvPr/>
        </p:nvSpPr>
        <p:spPr>
          <a:xfrm>
            <a:off x="459135" y="1579141"/>
            <a:ext cx="8225730" cy="413147"/>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Screen readers rely on a structured representation of web content called the </a:t>
            </a:r>
            <a:r>
              <a:rPr lang="en-US" sz="1000" b="1" dirty="0">
                <a:solidFill>
                  <a:srgbClr val="FFE5E5"/>
                </a:solidFill>
                <a:latin typeface="DM Sans" pitchFamily="34" charset="0"/>
                <a:ea typeface="DM Sans" pitchFamily="34" charset="-122"/>
                <a:cs typeface="DM Sans" pitchFamily="34" charset="-120"/>
              </a:rPr>
              <a:t>Accessibility Tree</a:t>
            </a:r>
            <a:r>
              <a:rPr lang="en-US" sz="1000" dirty="0">
                <a:solidFill>
                  <a:srgbClr val="FFE5E5"/>
                </a:solidFill>
                <a:latin typeface="DM Sans" pitchFamily="34" charset="0"/>
                <a:ea typeface="DM Sans" pitchFamily="34" charset="-122"/>
                <a:cs typeface="DM Sans" pitchFamily="34" charset="-120"/>
              </a:rPr>
              <a:t>. Derived from the Document Object Model (DOM), this tree is computed by the browser to provide assistive technologies with navigable information about page elements.</a:t>
            </a:r>
            <a:endParaRPr lang="en-US" sz="1000" dirty="0"/>
          </a:p>
        </p:txBody>
      </p:sp>
      <p:sp>
        <p:nvSpPr>
          <p:cNvPr id="4" name="Text 2"/>
          <p:cNvSpPr/>
          <p:nvPr/>
        </p:nvSpPr>
        <p:spPr>
          <a:xfrm>
            <a:off x="459135" y="2135237"/>
            <a:ext cx="262310" cy="163934"/>
          </a:xfrm>
          <a:prstGeom prst="rect">
            <a:avLst/>
          </a:prstGeom>
          <a:noFill/>
          <a:ln/>
        </p:spPr>
        <p:txBody>
          <a:bodyPr wrap="none" lIns="0" tIns="0" rIns="0" bIns="0" rtlCol="0" anchor="ctr"/>
          <a:lstStyle/>
          <a:p>
            <a:pPr marL="0" indent="0" algn="l">
              <a:lnSpc>
                <a:spcPct val="100000"/>
              </a:lnSpc>
              <a:buNone/>
            </a:pPr>
            <a:r>
              <a:rPr lang="en-US" sz="1000" dirty="0">
                <a:solidFill>
                  <a:srgbClr val="FFE5E5"/>
                </a:solidFill>
                <a:latin typeface="Dela Gothic One Light" pitchFamily="34" charset="0"/>
                <a:ea typeface="Dela Gothic One Light" pitchFamily="34" charset="-122"/>
                <a:cs typeface="Dela Gothic One Light" pitchFamily="34" charset="-120"/>
              </a:rPr>
              <a:t>01</a:t>
            </a:r>
            <a:endParaRPr lang="en-US" sz="1000" dirty="0"/>
          </a:p>
        </p:txBody>
      </p:sp>
      <p:sp>
        <p:nvSpPr>
          <p:cNvPr id="5" name="Shape 3"/>
          <p:cNvSpPr/>
          <p:nvPr/>
        </p:nvSpPr>
        <p:spPr>
          <a:xfrm>
            <a:off x="459135" y="2343820"/>
            <a:ext cx="2657177" cy="14288"/>
          </a:xfrm>
          <a:prstGeom prst="rect">
            <a:avLst/>
          </a:prstGeom>
          <a:solidFill>
            <a:srgbClr val="C91313"/>
          </a:solidFill>
          <a:ln/>
        </p:spPr>
      </p:sp>
      <p:sp>
        <p:nvSpPr>
          <p:cNvPr id="6" name="Text 4"/>
          <p:cNvSpPr/>
          <p:nvPr/>
        </p:nvSpPr>
        <p:spPr>
          <a:xfrm>
            <a:off x="459135" y="2437954"/>
            <a:ext cx="1726034" cy="215801"/>
          </a:xfrm>
          <a:prstGeom prst="rect">
            <a:avLst/>
          </a:prstGeom>
          <a:noFill/>
          <a:ln/>
        </p:spPr>
        <p:txBody>
          <a:bodyPr wrap="none" lIns="0" tIns="0" rIns="0" bIns="0" rtlCol="0" anchor="t"/>
          <a:lstStyle/>
          <a:p>
            <a:pPr marL="0" indent="0" algn="l">
              <a:lnSpc>
                <a:spcPts val="1650"/>
              </a:lnSpc>
              <a:buNone/>
            </a:pPr>
            <a:r>
              <a:rPr lang="en-US" sz="1350" dirty="0">
                <a:solidFill>
                  <a:srgbClr val="FFE5E5"/>
                </a:solidFill>
                <a:latin typeface="Dela Gothic One" pitchFamily="34" charset="0"/>
                <a:ea typeface="Dela Gothic One" pitchFamily="34" charset="-122"/>
                <a:cs typeface="Dela Gothic One" pitchFamily="34" charset="-120"/>
              </a:rPr>
              <a:t>Name</a:t>
            </a:r>
            <a:endParaRPr lang="en-US" sz="1350" dirty="0"/>
          </a:p>
        </p:txBody>
      </p:sp>
      <p:sp>
        <p:nvSpPr>
          <p:cNvPr id="7" name="Text 5"/>
          <p:cNvSpPr/>
          <p:nvPr/>
        </p:nvSpPr>
        <p:spPr>
          <a:xfrm>
            <a:off x="459135" y="2729954"/>
            <a:ext cx="2657177" cy="619720"/>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The actual text the screen reader announces, derived from titles, alt-text, or ARIA-labels.</a:t>
            </a:r>
            <a:endParaRPr lang="en-US" sz="1000" dirty="0"/>
          </a:p>
        </p:txBody>
      </p:sp>
      <p:sp>
        <p:nvSpPr>
          <p:cNvPr id="8" name="Text 6"/>
          <p:cNvSpPr/>
          <p:nvPr/>
        </p:nvSpPr>
        <p:spPr>
          <a:xfrm>
            <a:off x="3243337" y="2135237"/>
            <a:ext cx="262310" cy="163934"/>
          </a:xfrm>
          <a:prstGeom prst="rect">
            <a:avLst/>
          </a:prstGeom>
          <a:noFill/>
          <a:ln/>
        </p:spPr>
        <p:txBody>
          <a:bodyPr wrap="none" lIns="0" tIns="0" rIns="0" bIns="0" rtlCol="0" anchor="ctr"/>
          <a:lstStyle/>
          <a:p>
            <a:pPr marL="0" indent="0" algn="l">
              <a:lnSpc>
                <a:spcPct val="100000"/>
              </a:lnSpc>
              <a:buNone/>
            </a:pPr>
            <a:r>
              <a:rPr lang="en-US" sz="1000" dirty="0">
                <a:solidFill>
                  <a:srgbClr val="FFE5E5"/>
                </a:solidFill>
                <a:latin typeface="Dela Gothic One Light" pitchFamily="34" charset="0"/>
                <a:ea typeface="Dela Gothic One Light" pitchFamily="34" charset="-122"/>
                <a:cs typeface="Dela Gothic One Light" pitchFamily="34" charset="-120"/>
              </a:rPr>
              <a:t>02</a:t>
            </a:r>
            <a:endParaRPr lang="en-US" sz="1000" dirty="0"/>
          </a:p>
        </p:txBody>
      </p:sp>
      <p:sp>
        <p:nvSpPr>
          <p:cNvPr id="9" name="Shape 7"/>
          <p:cNvSpPr/>
          <p:nvPr/>
        </p:nvSpPr>
        <p:spPr>
          <a:xfrm>
            <a:off x="3243337" y="2343820"/>
            <a:ext cx="2657252" cy="14288"/>
          </a:xfrm>
          <a:prstGeom prst="rect">
            <a:avLst/>
          </a:prstGeom>
          <a:solidFill>
            <a:srgbClr val="C91313"/>
          </a:solidFill>
          <a:ln/>
        </p:spPr>
      </p:sp>
      <p:sp>
        <p:nvSpPr>
          <p:cNvPr id="10" name="Text 8"/>
          <p:cNvSpPr/>
          <p:nvPr/>
        </p:nvSpPr>
        <p:spPr>
          <a:xfrm>
            <a:off x="3243337" y="2437954"/>
            <a:ext cx="1726034" cy="215801"/>
          </a:xfrm>
          <a:prstGeom prst="rect">
            <a:avLst/>
          </a:prstGeom>
          <a:noFill/>
          <a:ln/>
        </p:spPr>
        <p:txBody>
          <a:bodyPr wrap="none" lIns="0" tIns="0" rIns="0" bIns="0" rtlCol="0" anchor="t"/>
          <a:lstStyle/>
          <a:p>
            <a:pPr marL="0" indent="0" algn="l">
              <a:lnSpc>
                <a:spcPts val="1650"/>
              </a:lnSpc>
              <a:buNone/>
            </a:pPr>
            <a:r>
              <a:rPr lang="en-US" sz="1350" dirty="0">
                <a:solidFill>
                  <a:srgbClr val="FFE5E5"/>
                </a:solidFill>
                <a:latin typeface="Dela Gothic One" pitchFamily="34" charset="0"/>
                <a:ea typeface="Dela Gothic One" pitchFamily="34" charset="-122"/>
                <a:cs typeface="Dela Gothic One" pitchFamily="34" charset="-120"/>
              </a:rPr>
              <a:t>Description</a:t>
            </a:r>
            <a:endParaRPr lang="en-US" sz="1350" dirty="0"/>
          </a:p>
        </p:txBody>
      </p:sp>
      <p:sp>
        <p:nvSpPr>
          <p:cNvPr id="11" name="Text 9"/>
          <p:cNvSpPr/>
          <p:nvPr/>
        </p:nvSpPr>
        <p:spPr>
          <a:xfrm>
            <a:off x="3243337" y="2729954"/>
            <a:ext cx="2657252" cy="413147"/>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Additional context that users can choose to hear for more detailed information.</a:t>
            </a:r>
            <a:endParaRPr lang="en-US" sz="1000" dirty="0"/>
          </a:p>
        </p:txBody>
      </p:sp>
      <p:sp>
        <p:nvSpPr>
          <p:cNvPr id="12" name="Text 10"/>
          <p:cNvSpPr/>
          <p:nvPr/>
        </p:nvSpPr>
        <p:spPr>
          <a:xfrm>
            <a:off x="6027613" y="2135237"/>
            <a:ext cx="262310" cy="163934"/>
          </a:xfrm>
          <a:prstGeom prst="rect">
            <a:avLst/>
          </a:prstGeom>
          <a:noFill/>
          <a:ln/>
        </p:spPr>
        <p:txBody>
          <a:bodyPr wrap="none" lIns="0" tIns="0" rIns="0" bIns="0" rtlCol="0" anchor="ctr"/>
          <a:lstStyle/>
          <a:p>
            <a:pPr marL="0" indent="0" algn="l">
              <a:lnSpc>
                <a:spcPct val="100000"/>
              </a:lnSpc>
              <a:buNone/>
            </a:pPr>
            <a:r>
              <a:rPr lang="en-US" sz="1000" dirty="0">
                <a:solidFill>
                  <a:srgbClr val="FFE5E5"/>
                </a:solidFill>
                <a:latin typeface="Dela Gothic One Light" pitchFamily="34" charset="0"/>
                <a:ea typeface="Dela Gothic One Light" pitchFamily="34" charset="-122"/>
                <a:cs typeface="Dela Gothic One Light" pitchFamily="34" charset="-120"/>
              </a:rPr>
              <a:t>03</a:t>
            </a:r>
            <a:endParaRPr lang="en-US" sz="1000" dirty="0"/>
          </a:p>
        </p:txBody>
      </p:sp>
      <p:sp>
        <p:nvSpPr>
          <p:cNvPr id="13" name="Shape 11"/>
          <p:cNvSpPr/>
          <p:nvPr/>
        </p:nvSpPr>
        <p:spPr>
          <a:xfrm>
            <a:off x="6027613" y="2343820"/>
            <a:ext cx="2657177" cy="14288"/>
          </a:xfrm>
          <a:prstGeom prst="rect">
            <a:avLst/>
          </a:prstGeom>
          <a:solidFill>
            <a:srgbClr val="C91313"/>
          </a:solidFill>
          <a:ln/>
        </p:spPr>
      </p:sp>
      <p:sp>
        <p:nvSpPr>
          <p:cNvPr id="14" name="Text 12"/>
          <p:cNvSpPr/>
          <p:nvPr/>
        </p:nvSpPr>
        <p:spPr>
          <a:xfrm>
            <a:off x="6027613" y="2437954"/>
            <a:ext cx="1726034" cy="215801"/>
          </a:xfrm>
          <a:prstGeom prst="rect">
            <a:avLst/>
          </a:prstGeom>
          <a:noFill/>
          <a:ln/>
        </p:spPr>
        <p:txBody>
          <a:bodyPr wrap="none" lIns="0" tIns="0" rIns="0" bIns="0" rtlCol="0" anchor="t"/>
          <a:lstStyle/>
          <a:p>
            <a:pPr marL="0" indent="0" algn="l">
              <a:lnSpc>
                <a:spcPts val="1650"/>
              </a:lnSpc>
              <a:buNone/>
            </a:pPr>
            <a:r>
              <a:rPr lang="en-US" sz="1350" dirty="0">
                <a:solidFill>
                  <a:srgbClr val="FFE5E5"/>
                </a:solidFill>
                <a:latin typeface="Dela Gothic One" pitchFamily="34" charset="0"/>
                <a:ea typeface="Dela Gothic One" pitchFamily="34" charset="-122"/>
                <a:cs typeface="Dela Gothic One" pitchFamily="34" charset="-120"/>
              </a:rPr>
              <a:t>Role</a:t>
            </a:r>
            <a:endParaRPr lang="en-US" sz="1350" dirty="0"/>
          </a:p>
        </p:txBody>
      </p:sp>
      <p:sp>
        <p:nvSpPr>
          <p:cNvPr id="15" name="Text 13"/>
          <p:cNvSpPr/>
          <p:nvPr/>
        </p:nvSpPr>
        <p:spPr>
          <a:xfrm>
            <a:off x="6027613" y="2729954"/>
            <a:ext cx="2657177" cy="619720"/>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Defines what the element is (e.g., a button versus a link) to determine interaction methods.</a:t>
            </a:r>
            <a:endParaRPr lang="en-US" sz="1000" dirty="0"/>
          </a:p>
        </p:txBody>
      </p:sp>
      <p:sp>
        <p:nvSpPr>
          <p:cNvPr id="16" name="Text 14"/>
          <p:cNvSpPr/>
          <p:nvPr/>
        </p:nvSpPr>
        <p:spPr>
          <a:xfrm>
            <a:off x="459135" y="3575075"/>
            <a:ext cx="262310" cy="163934"/>
          </a:xfrm>
          <a:prstGeom prst="rect">
            <a:avLst/>
          </a:prstGeom>
          <a:noFill/>
          <a:ln/>
        </p:spPr>
        <p:txBody>
          <a:bodyPr wrap="none" lIns="0" tIns="0" rIns="0" bIns="0" rtlCol="0" anchor="ctr"/>
          <a:lstStyle/>
          <a:p>
            <a:pPr marL="0" indent="0" algn="l">
              <a:lnSpc>
                <a:spcPct val="100000"/>
              </a:lnSpc>
              <a:buNone/>
            </a:pPr>
            <a:r>
              <a:rPr lang="en-US" sz="1000" dirty="0">
                <a:solidFill>
                  <a:srgbClr val="FFE5E5"/>
                </a:solidFill>
                <a:latin typeface="Dela Gothic One Light" pitchFamily="34" charset="0"/>
                <a:ea typeface="Dela Gothic One Light" pitchFamily="34" charset="-122"/>
                <a:cs typeface="Dela Gothic One Light" pitchFamily="34" charset="-120"/>
              </a:rPr>
              <a:t>04</a:t>
            </a:r>
            <a:endParaRPr lang="en-US" sz="1000" dirty="0"/>
          </a:p>
        </p:txBody>
      </p:sp>
      <p:sp>
        <p:nvSpPr>
          <p:cNvPr id="17" name="Shape 15"/>
          <p:cNvSpPr/>
          <p:nvPr/>
        </p:nvSpPr>
        <p:spPr>
          <a:xfrm>
            <a:off x="459135" y="3783657"/>
            <a:ext cx="4049316" cy="14288"/>
          </a:xfrm>
          <a:prstGeom prst="rect">
            <a:avLst/>
          </a:prstGeom>
          <a:solidFill>
            <a:srgbClr val="C91313"/>
          </a:solidFill>
          <a:ln/>
        </p:spPr>
      </p:sp>
      <p:sp>
        <p:nvSpPr>
          <p:cNvPr id="18" name="Text 16"/>
          <p:cNvSpPr/>
          <p:nvPr/>
        </p:nvSpPr>
        <p:spPr>
          <a:xfrm>
            <a:off x="459135" y="3877791"/>
            <a:ext cx="1726034" cy="215801"/>
          </a:xfrm>
          <a:prstGeom prst="rect">
            <a:avLst/>
          </a:prstGeom>
          <a:noFill/>
          <a:ln/>
        </p:spPr>
        <p:txBody>
          <a:bodyPr wrap="none" lIns="0" tIns="0" rIns="0" bIns="0" rtlCol="0" anchor="t"/>
          <a:lstStyle/>
          <a:p>
            <a:pPr marL="0" indent="0" algn="l">
              <a:lnSpc>
                <a:spcPts val="1650"/>
              </a:lnSpc>
              <a:buNone/>
            </a:pPr>
            <a:r>
              <a:rPr lang="en-US" sz="1350" dirty="0">
                <a:solidFill>
                  <a:srgbClr val="FFE5E5"/>
                </a:solidFill>
                <a:latin typeface="Dela Gothic One" pitchFamily="34" charset="0"/>
                <a:ea typeface="Dela Gothic One" pitchFamily="34" charset="-122"/>
                <a:cs typeface="Dela Gothic One" pitchFamily="34" charset="-120"/>
              </a:rPr>
              <a:t>State</a:t>
            </a:r>
            <a:endParaRPr lang="en-US" sz="1350" dirty="0"/>
          </a:p>
        </p:txBody>
      </p:sp>
      <p:sp>
        <p:nvSpPr>
          <p:cNvPr id="19" name="Text 17"/>
          <p:cNvSpPr/>
          <p:nvPr/>
        </p:nvSpPr>
        <p:spPr>
          <a:xfrm>
            <a:off x="459135" y="4169792"/>
            <a:ext cx="4049316" cy="413147"/>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The current condition of interactive elements (e.g., checked or unchecked, expanded or collapsed).</a:t>
            </a:r>
            <a:endParaRPr lang="en-US" sz="1000" dirty="0"/>
          </a:p>
        </p:txBody>
      </p:sp>
      <p:sp>
        <p:nvSpPr>
          <p:cNvPr id="20" name="Text 18"/>
          <p:cNvSpPr/>
          <p:nvPr/>
        </p:nvSpPr>
        <p:spPr>
          <a:xfrm>
            <a:off x="4635475" y="3575075"/>
            <a:ext cx="262310" cy="163934"/>
          </a:xfrm>
          <a:prstGeom prst="rect">
            <a:avLst/>
          </a:prstGeom>
          <a:noFill/>
          <a:ln/>
        </p:spPr>
        <p:txBody>
          <a:bodyPr wrap="none" lIns="0" tIns="0" rIns="0" bIns="0" rtlCol="0" anchor="ctr"/>
          <a:lstStyle/>
          <a:p>
            <a:pPr marL="0" indent="0" algn="l">
              <a:lnSpc>
                <a:spcPct val="100000"/>
              </a:lnSpc>
              <a:buNone/>
            </a:pPr>
            <a:r>
              <a:rPr lang="en-US" sz="1000" dirty="0">
                <a:solidFill>
                  <a:srgbClr val="FFE5E5"/>
                </a:solidFill>
                <a:latin typeface="Dela Gothic One Light" pitchFamily="34" charset="0"/>
                <a:ea typeface="Dela Gothic One Light" pitchFamily="34" charset="-122"/>
                <a:cs typeface="Dela Gothic One Light" pitchFamily="34" charset="-120"/>
              </a:rPr>
              <a:t>05</a:t>
            </a:r>
            <a:endParaRPr lang="en-US" sz="1000" dirty="0"/>
          </a:p>
        </p:txBody>
      </p:sp>
      <p:sp>
        <p:nvSpPr>
          <p:cNvPr id="21" name="Shape 19"/>
          <p:cNvSpPr/>
          <p:nvPr/>
        </p:nvSpPr>
        <p:spPr>
          <a:xfrm>
            <a:off x="4635475" y="3783657"/>
            <a:ext cx="4049316" cy="14288"/>
          </a:xfrm>
          <a:prstGeom prst="rect">
            <a:avLst/>
          </a:prstGeom>
          <a:solidFill>
            <a:srgbClr val="C91313"/>
          </a:solidFill>
          <a:ln/>
        </p:spPr>
      </p:sp>
      <p:sp>
        <p:nvSpPr>
          <p:cNvPr id="22" name="Text 20"/>
          <p:cNvSpPr/>
          <p:nvPr/>
        </p:nvSpPr>
        <p:spPr>
          <a:xfrm>
            <a:off x="4635475" y="3877791"/>
            <a:ext cx="1726034" cy="215801"/>
          </a:xfrm>
          <a:prstGeom prst="rect">
            <a:avLst/>
          </a:prstGeom>
          <a:noFill/>
          <a:ln/>
        </p:spPr>
        <p:txBody>
          <a:bodyPr wrap="none" lIns="0" tIns="0" rIns="0" bIns="0" rtlCol="0" anchor="t"/>
          <a:lstStyle/>
          <a:p>
            <a:pPr marL="0" indent="0" algn="l">
              <a:lnSpc>
                <a:spcPts val="1650"/>
              </a:lnSpc>
              <a:buNone/>
            </a:pPr>
            <a:r>
              <a:rPr lang="en-US" sz="1350" dirty="0">
                <a:solidFill>
                  <a:srgbClr val="FFE5E5"/>
                </a:solidFill>
                <a:latin typeface="Dela Gothic One" pitchFamily="34" charset="0"/>
                <a:ea typeface="Dela Gothic One" pitchFamily="34" charset="-122"/>
                <a:cs typeface="Dela Gothic One" pitchFamily="34" charset="-120"/>
              </a:rPr>
              <a:t>Focusability</a:t>
            </a:r>
            <a:endParaRPr lang="en-US" sz="1350" dirty="0"/>
          </a:p>
        </p:txBody>
      </p:sp>
      <p:sp>
        <p:nvSpPr>
          <p:cNvPr id="23" name="Text 21"/>
          <p:cNvSpPr/>
          <p:nvPr/>
        </p:nvSpPr>
        <p:spPr>
          <a:xfrm>
            <a:off x="4635475" y="4169792"/>
            <a:ext cx="4049316" cy="413147"/>
          </a:xfrm>
          <a:prstGeom prst="rect">
            <a:avLst/>
          </a:prstGeom>
          <a:noFill/>
          <a:ln/>
        </p:spPr>
        <p:txBody>
          <a:bodyPr wrap="square" lIns="0" tIns="0" rIns="0" bIns="0" rtlCol="0" anchor="t"/>
          <a:lstStyle/>
          <a:p>
            <a:pPr marL="0" indent="0" algn="l">
              <a:lnSpc>
                <a:spcPts val="1600"/>
              </a:lnSpc>
              <a:buNone/>
            </a:pPr>
            <a:r>
              <a:rPr lang="en-US" sz="1000" dirty="0">
                <a:solidFill>
                  <a:srgbClr val="FFE5E5"/>
                </a:solidFill>
                <a:latin typeface="DM Sans" pitchFamily="34" charset="0"/>
                <a:ea typeface="DM Sans" pitchFamily="34" charset="-122"/>
                <a:cs typeface="DM Sans" pitchFamily="34" charset="-120"/>
              </a:rPr>
              <a:t>Determines if the element can be accessed via keyboard navigation and screen reader focus.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1011957"/>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Methodology: The Data Collection Pipeline</a:t>
            </a:r>
            <a:endParaRPr lang="en-US" sz="2800" dirty="0"/>
          </a:p>
        </p:txBody>
      </p:sp>
      <p:sp>
        <p:nvSpPr>
          <p:cNvPr id="3" name="Text 1"/>
          <p:cNvSpPr/>
          <p:nvPr/>
        </p:nvSpPr>
        <p:spPr>
          <a:xfrm>
            <a:off x="473943" y="2173635"/>
            <a:ext cx="8196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Researchers constructed an automated pipeline to audit web accessibility at scale, systematically capturing advertisements across 90 popular US websites spanning six distinct categories: news, health, weather, travel, shopping, and lottery.</a:t>
            </a:r>
            <a:endParaRPr lang="en-US" sz="1050" dirty="0"/>
          </a:p>
        </p:txBody>
      </p:sp>
      <p:sp>
        <p:nvSpPr>
          <p:cNvPr id="4" name="Text 2"/>
          <p:cNvSpPr/>
          <p:nvPr/>
        </p:nvSpPr>
        <p:spPr>
          <a:xfrm>
            <a:off x="473943" y="2759348"/>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01</a:t>
            </a:r>
            <a:endParaRPr lang="en-US" sz="1050" dirty="0"/>
          </a:p>
        </p:txBody>
      </p:sp>
      <p:sp>
        <p:nvSpPr>
          <p:cNvPr id="5" name="Shape 3"/>
          <p:cNvSpPr/>
          <p:nvPr/>
        </p:nvSpPr>
        <p:spPr>
          <a:xfrm>
            <a:off x="473943" y="2970312"/>
            <a:ext cx="2641774" cy="19050"/>
          </a:xfrm>
          <a:prstGeom prst="rect">
            <a:avLst/>
          </a:prstGeom>
          <a:solidFill>
            <a:srgbClr val="C91313"/>
          </a:solidFill>
          <a:ln/>
        </p:spPr>
      </p:sp>
      <p:sp>
        <p:nvSpPr>
          <p:cNvPr id="6" name="Text 4"/>
          <p:cNvSpPr/>
          <p:nvPr/>
        </p:nvSpPr>
        <p:spPr>
          <a:xfrm>
            <a:off x="473943" y="3076054"/>
            <a:ext cx="2192685"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Automated Scraping</a:t>
            </a:r>
            <a:endParaRPr lang="en-US" sz="1400" dirty="0"/>
          </a:p>
        </p:txBody>
      </p:sp>
      <p:sp>
        <p:nvSpPr>
          <p:cNvPr id="7" name="Text 5"/>
          <p:cNvSpPr/>
          <p:nvPr/>
        </p:nvSpPr>
        <p:spPr>
          <a:xfrm>
            <a:off x="473943" y="3379887"/>
            <a:ext cx="264177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Puppeteer navigated pages, closed pop-ups, and scrolled to trigger ad loading</a:t>
            </a:r>
            <a:endParaRPr lang="en-US" sz="1050" dirty="0"/>
          </a:p>
        </p:txBody>
      </p:sp>
      <p:sp>
        <p:nvSpPr>
          <p:cNvPr id="8" name="Text 6"/>
          <p:cNvSpPr/>
          <p:nvPr/>
        </p:nvSpPr>
        <p:spPr>
          <a:xfrm>
            <a:off x="3251076" y="2759348"/>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02</a:t>
            </a:r>
            <a:endParaRPr lang="en-US" sz="1050" dirty="0"/>
          </a:p>
        </p:txBody>
      </p:sp>
      <p:sp>
        <p:nvSpPr>
          <p:cNvPr id="9" name="Shape 7"/>
          <p:cNvSpPr/>
          <p:nvPr/>
        </p:nvSpPr>
        <p:spPr>
          <a:xfrm>
            <a:off x="3251076" y="2970312"/>
            <a:ext cx="2641774" cy="19050"/>
          </a:xfrm>
          <a:prstGeom prst="rect">
            <a:avLst/>
          </a:prstGeom>
          <a:solidFill>
            <a:srgbClr val="C91313"/>
          </a:solidFill>
          <a:ln/>
        </p:spPr>
      </p:sp>
      <p:sp>
        <p:nvSpPr>
          <p:cNvPr id="10" name="Text 8"/>
          <p:cNvSpPr/>
          <p:nvPr/>
        </p:nvSpPr>
        <p:spPr>
          <a:xfrm>
            <a:off x="3251076" y="3076054"/>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Data Capture</a:t>
            </a:r>
            <a:endParaRPr lang="en-US" sz="1400" dirty="0"/>
          </a:p>
        </p:txBody>
      </p:sp>
      <p:sp>
        <p:nvSpPr>
          <p:cNvPr id="11" name="Text 9"/>
          <p:cNvSpPr/>
          <p:nvPr/>
        </p:nvSpPr>
        <p:spPr>
          <a:xfrm>
            <a:off x="3251076" y="3379887"/>
            <a:ext cx="2641774"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Screenshots, HTML DOM, and Accessibility Trees extracted via Chrome DevTools Protocol API</a:t>
            </a:r>
            <a:endParaRPr lang="en-US" sz="1050" dirty="0"/>
          </a:p>
        </p:txBody>
      </p:sp>
      <p:sp>
        <p:nvSpPr>
          <p:cNvPr id="12" name="Text 10"/>
          <p:cNvSpPr/>
          <p:nvPr/>
        </p:nvSpPr>
        <p:spPr>
          <a:xfrm>
            <a:off x="6028209" y="2759348"/>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03</a:t>
            </a:r>
            <a:endParaRPr lang="en-US" sz="1050" dirty="0"/>
          </a:p>
        </p:txBody>
      </p:sp>
      <p:sp>
        <p:nvSpPr>
          <p:cNvPr id="13" name="Shape 11"/>
          <p:cNvSpPr/>
          <p:nvPr/>
        </p:nvSpPr>
        <p:spPr>
          <a:xfrm>
            <a:off x="6028209" y="2970312"/>
            <a:ext cx="2641848" cy="19050"/>
          </a:xfrm>
          <a:prstGeom prst="rect">
            <a:avLst/>
          </a:prstGeom>
          <a:solidFill>
            <a:srgbClr val="C91313"/>
          </a:solidFill>
          <a:ln/>
        </p:spPr>
      </p:sp>
      <p:sp>
        <p:nvSpPr>
          <p:cNvPr id="14" name="Text 12"/>
          <p:cNvSpPr/>
          <p:nvPr/>
        </p:nvSpPr>
        <p:spPr>
          <a:xfrm>
            <a:off x="6028209" y="3076054"/>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Deduplication</a:t>
            </a:r>
            <a:endParaRPr lang="en-US" sz="1400" dirty="0"/>
          </a:p>
        </p:txBody>
      </p:sp>
      <p:sp>
        <p:nvSpPr>
          <p:cNvPr id="15" name="Text 13"/>
          <p:cNvSpPr/>
          <p:nvPr/>
        </p:nvSpPr>
        <p:spPr>
          <a:xfrm>
            <a:off x="6028209" y="3379887"/>
            <a:ext cx="2641848"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Visually identical ads removed to yield 8,097 unique online advertisements</a:t>
            </a:r>
            <a:endParaRPr lang="en-US" sz="1050" dirty="0"/>
          </a:p>
        </p:txBody>
      </p:sp>
    </p:spTree>
    <p:extLst>
      <p:ext uri="{BB962C8B-B14F-4D97-AF65-F5344CB8AC3E}">
        <p14:creationId xmlns:p14="http://schemas.microsoft.com/office/powerpoint/2010/main" val="3500085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236306" y="467458"/>
            <a:ext cx="3048244" cy="4075742"/>
          </a:xfrm>
          <a:prstGeom prst="rect">
            <a:avLst/>
          </a:prstGeom>
        </p:spPr>
      </p:pic>
      <p:sp>
        <p:nvSpPr>
          <p:cNvPr id="4" name="Text 0"/>
          <p:cNvSpPr/>
          <p:nvPr/>
        </p:nvSpPr>
        <p:spPr>
          <a:xfrm>
            <a:off x="3865885" y="376386"/>
            <a:ext cx="4841230" cy="1231850"/>
          </a:xfrm>
          <a:prstGeom prst="rect">
            <a:avLst/>
          </a:prstGeom>
          <a:noFill/>
          <a:ln/>
        </p:spPr>
        <p:txBody>
          <a:bodyPr wrap="square" lIns="0" tIns="0" rIns="0" bIns="0" rtlCol="0" anchor="t"/>
          <a:lstStyle/>
          <a:p>
            <a:pPr marL="0" indent="0" algn="l">
              <a:lnSpc>
                <a:spcPts val="3200"/>
              </a:lnSpc>
              <a:buNone/>
            </a:pPr>
            <a:r>
              <a:rPr lang="en-US" sz="2550" dirty="0">
                <a:solidFill>
                  <a:srgbClr val="FAEBEB"/>
                </a:solidFill>
                <a:latin typeface="Dela Gothic One" pitchFamily="34" charset="0"/>
                <a:ea typeface="Dela Gothic One" pitchFamily="34" charset="-122"/>
                <a:cs typeface="Dela Gothic One" pitchFamily="34" charset="-120"/>
              </a:rPr>
              <a:t>Analyzing Perceivability: The Implementation Gap</a:t>
            </a:r>
            <a:endParaRPr lang="en-US" sz="2550" dirty="0"/>
          </a:p>
        </p:txBody>
      </p:sp>
      <p:sp>
        <p:nvSpPr>
          <p:cNvPr id="5" name="Text 1"/>
          <p:cNvSpPr/>
          <p:nvPr/>
        </p:nvSpPr>
        <p:spPr>
          <a:xfrm>
            <a:off x="3865885" y="1884313"/>
            <a:ext cx="2268364" cy="1535311"/>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The first test of accessibility examines </a:t>
            </a:r>
            <a:r>
              <a:rPr lang="en-US" sz="950" b="1" dirty="0">
                <a:solidFill>
                  <a:srgbClr val="C91313"/>
                </a:solidFill>
                <a:latin typeface="DM Sans" pitchFamily="34" charset="0"/>
                <a:ea typeface="DM Sans" pitchFamily="34" charset="-122"/>
                <a:cs typeface="DM Sans" pitchFamily="34" charset="-120"/>
              </a:rPr>
              <a:t>perceivability</a:t>
            </a:r>
            <a:r>
              <a:rPr lang="en-US" sz="950" dirty="0">
                <a:solidFill>
                  <a:srgbClr val="FFE5E5"/>
                </a:solidFill>
                <a:latin typeface="DM Sans" pitchFamily="34" charset="0"/>
                <a:ea typeface="DM Sans" pitchFamily="34" charset="-122"/>
                <a:cs typeface="DM Sans" pitchFamily="34" charset="-120"/>
              </a:rPr>
              <a:t>: are developers properly exposing visual information to assistive technologies? Two visually identical ads can have drastically different accessibility profiles based purely on their underlying code structure.</a:t>
            </a:r>
            <a:endParaRPr lang="en-US" sz="950" dirty="0"/>
          </a:p>
        </p:txBody>
      </p:sp>
      <p:sp>
        <p:nvSpPr>
          <p:cNvPr id="6" name="Text 2"/>
          <p:cNvSpPr/>
          <p:nvPr/>
        </p:nvSpPr>
        <p:spPr>
          <a:xfrm>
            <a:off x="6443514" y="1895847"/>
            <a:ext cx="2127647" cy="205234"/>
          </a:xfrm>
          <a:prstGeom prst="rect">
            <a:avLst/>
          </a:prstGeom>
          <a:noFill/>
          <a:ln/>
        </p:spPr>
        <p:txBody>
          <a:bodyPr wrap="none" lIns="0" tIns="0" rIns="0" bIns="0" rtlCol="0" anchor="t"/>
          <a:lstStyle/>
          <a:p>
            <a:pPr marL="0" indent="0" algn="l">
              <a:lnSpc>
                <a:spcPts val="1600"/>
              </a:lnSpc>
              <a:buNone/>
            </a:pPr>
            <a:r>
              <a:rPr lang="en-US" sz="1250" dirty="0">
                <a:solidFill>
                  <a:srgbClr val="FAEBEB"/>
                </a:solidFill>
                <a:latin typeface="Dela Gothic One" pitchFamily="34" charset="0"/>
                <a:ea typeface="Dela Gothic One" pitchFamily="34" charset="-122"/>
                <a:cs typeface="Dela Gothic One" pitchFamily="34" charset="-120"/>
              </a:rPr>
              <a:t>HTML-Only Approach</a:t>
            </a:r>
            <a:endParaRPr lang="en-US" sz="1250" dirty="0"/>
          </a:p>
        </p:txBody>
      </p:sp>
      <p:sp>
        <p:nvSpPr>
          <p:cNvPr id="7" name="Text 3"/>
          <p:cNvSpPr/>
          <p:nvPr/>
        </p:nvSpPr>
        <p:spPr>
          <a:xfrm>
            <a:off x="6443514" y="2216125"/>
            <a:ext cx="2268364" cy="383828"/>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Exposes "alt" text to screen readers, making content accessible</a:t>
            </a:r>
            <a:endParaRPr lang="en-US" sz="950" dirty="0"/>
          </a:p>
        </p:txBody>
      </p:sp>
      <p:sp>
        <p:nvSpPr>
          <p:cNvPr id="8" name="Text 4"/>
          <p:cNvSpPr/>
          <p:nvPr/>
        </p:nvSpPr>
        <p:spPr>
          <a:xfrm>
            <a:off x="3865885" y="3767584"/>
            <a:ext cx="2159347" cy="205234"/>
          </a:xfrm>
          <a:prstGeom prst="rect">
            <a:avLst/>
          </a:prstGeom>
          <a:noFill/>
          <a:ln/>
        </p:spPr>
        <p:txBody>
          <a:bodyPr wrap="none" lIns="0" tIns="0" rIns="0" bIns="0" rtlCol="0" anchor="t"/>
          <a:lstStyle/>
          <a:p>
            <a:pPr marL="0" indent="0" algn="l">
              <a:lnSpc>
                <a:spcPts val="1600"/>
              </a:lnSpc>
              <a:buNone/>
            </a:pPr>
            <a:r>
              <a:rPr lang="en-US" sz="1250" dirty="0">
                <a:solidFill>
                  <a:srgbClr val="FAEBEB"/>
                </a:solidFill>
                <a:latin typeface="Dela Gothic One" pitchFamily="34" charset="0"/>
                <a:ea typeface="Dela Gothic One" pitchFamily="34" charset="-122"/>
                <a:cs typeface="Dela Gothic One" pitchFamily="34" charset="-120"/>
              </a:rPr>
              <a:t>HTML+CSS Approach</a:t>
            </a:r>
            <a:endParaRPr lang="en-US" sz="1250" dirty="0"/>
          </a:p>
        </p:txBody>
      </p:sp>
      <p:sp>
        <p:nvSpPr>
          <p:cNvPr id="9" name="Text 5"/>
          <p:cNvSpPr/>
          <p:nvPr/>
        </p:nvSpPr>
        <p:spPr>
          <a:xfrm>
            <a:off x="3865885" y="4087862"/>
            <a:ext cx="2268364" cy="575742"/>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Uses background images, rendering content completely invisible to screen readers</a:t>
            </a:r>
            <a:endParaRPr lang="en-US" sz="950" dirty="0"/>
          </a:p>
        </p:txBody>
      </p:sp>
      <p:sp>
        <p:nvSpPr>
          <p:cNvPr id="10" name="Text 6"/>
          <p:cNvSpPr/>
          <p:nvPr/>
        </p:nvSpPr>
        <p:spPr>
          <a:xfrm>
            <a:off x="6443514" y="3756050"/>
            <a:ext cx="2268364" cy="383828"/>
          </a:xfrm>
          <a:prstGeom prst="rect">
            <a:avLst/>
          </a:prstGeom>
          <a:noFill/>
          <a:ln/>
        </p:spPr>
        <p:txBody>
          <a:bodyPr wrap="square" lIns="0" tIns="0" rIns="0" bIns="0" rtlCol="0" anchor="t"/>
          <a:lstStyle/>
          <a:p>
            <a:pPr marL="0" indent="0" algn="l">
              <a:lnSpc>
                <a:spcPts val="1500"/>
              </a:lnSpc>
              <a:buNone/>
            </a:pPr>
            <a:r>
              <a:rPr lang="en-US" sz="950" i="1" dirty="0">
                <a:solidFill>
                  <a:srgbClr val="FFE5E5"/>
                </a:solidFill>
                <a:latin typeface="DM Sans" pitchFamily="34" charset="0"/>
                <a:ea typeface="DM Sans" pitchFamily="34" charset="-122"/>
                <a:cs typeface="DM Sans" pitchFamily="34" charset="-120"/>
              </a:rPr>
              <a:t>[Figure 1: White Flower example with HTML vs. HTML+CSS code comparison]</a:t>
            </a:r>
            <a:endParaRPr lang="en-US" sz="950" dirty="0"/>
          </a:p>
        </p:txBody>
      </p:sp>
    </p:spTree>
    <p:extLst>
      <p:ext uri="{BB962C8B-B14F-4D97-AF65-F5344CB8AC3E}">
        <p14:creationId xmlns:p14="http://schemas.microsoft.com/office/powerpoint/2010/main" val="35787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744662"/>
            <a:ext cx="6564734"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The Nuance of Missing Alt-Text</a:t>
            </a:r>
            <a:endParaRPr lang="en-US" sz="2800" dirty="0"/>
          </a:p>
        </p:txBody>
      </p:sp>
      <p:sp>
        <p:nvSpPr>
          <p:cNvPr id="3" name="Text 1"/>
          <p:cNvSpPr/>
          <p:nvPr/>
        </p:nvSpPr>
        <p:spPr>
          <a:xfrm>
            <a:off x="473943" y="1460897"/>
            <a:ext cx="8196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Images without alt-text are entirely imperceivable to screen reader users. The researchers aggressively audited the dataset for images lacking this crucial HTML property.</a:t>
            </a:r>
            <a:endParaRPr lang="en-US" sz="1050" dirty="0"/>
          </a:p>
        </p:txBody>
      </p:sp>
      <p:sp>
        <p:nvSpPr>
          <p:cNvPr id="4" name="Shape 2"/>
          <p:cNvSpPr/>
          <p:nvPr/>
        </p:nvSpPr>
        <p:spPr>
          <a:xfrm>
            <a:off x="473943" y="2046610"/>
            <a:ext cx="2641774" cy="2352154"/>
          </a:xfrm>
          <a:prstGeom prst="roundRect">
            <a:avLst>
              <a:gd name="adj" fmla="val 3888"/>
            </a:avLst>
          </a:prstGeom>
          <a:solidFill>
            <a:srgbClr val="0A0A0A">
              <a:alpha val="95000"/>
            </a:srgbClr>
          </a:solidFill>
          <a:ln w="19050">
            <a:solidFill>
              <a:srgbClr val="C91313"/>
            </a:solidFill>
            <a:prstDash val="solid"/>
          </a:ln>
        </p:spPr>
      </p:sp>
      <p:sp>
        <p:nvSpPr>
          <p:cNvPr id="5" name="Shape 3"/>
          <p:cNvSpPr/>
          <p:nvPr/>
        </p:nvSpPr>
        <p:spPr>
          <a:xfrm>
            <a:off x="454893" y="2046610"/>
            <a:ext cx="76200" cy="2352154"/>
          </a:xfrm>
          <a:prstGeom prst="roundRect">
            <a:avLst>
              <a:gd name="adj" fmla="val 74638"/>
            </a:avLst>
          </a:prstGeom>
          <a:solidFill>
            <a:srgbClr val="C91313"/>
          </a:solidFill>
          <a:ln/>
        </p:spPr>
      </p:sp>
      <p:sp>
        <p:nvSpPr>
          <p:cNvPr id="6" name="Text 4"/>
          <p:cNvSpPr/>
          <p:nvPr/>
        </p:nvSpPr>
        <p:spPr>
          <a:xfrm>
            <a:off x="685502" y="2201019"/>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Missing Alt-Text</a:t>
            </a:r>
            <a:endParaRPr lang="en-US" sz="1400" dirty="0"/>
          </a:p>
        </p:txBody>
      </p:sp>
      <p:sp>
        <p:nvSpPr>
          <p:cNvPr id="7" name="Text 5"/>
          <p:cNvSpPr/>
          <p:nvPr/>
        </p:nvSpPr>
        <p:spPr>
          <a:xfrm>
            <a:off x="685502" y="2504852"/>
            <a:ext cx="2275805"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Images without alt-text are entirely imperceivable to screen reader users</a:t>
            </a:r>
            <a:endParaRPr lang="en-US" sz="1050" dirty="0"/>
          </a:p>
        </p:txBody>
      </p:sp>
      <p:sp>
        <p:nvSpPr>
          <p:cNvPr id="8" name="Shape 6"/>
          <p:cNvSpPr/>
          <p:nvPr/>
        </p:nvSpPr>
        <p:spPr>
          <a:xfrm>
            <a:off x="3251076" y="2046610"/>
            <a:ext cx="2641774" cy="2352154"/>
          </a:xfrm>
          <a:prstGeom prst="roundRect">
            <a:avLst>
              <a:gd name="adj" fmla="val 3888"/>
            </a:avLst>
          </a:prstGeom>
          <a:solidFill>
            <a:srgbClr val="0A0A0A">
              <a:alpha val="95000"/>
            </a:srgbClr>
          </a:solidFill>
          <a:ln w="19050">
            <a:solidFill>
              <a:srgbClr val="740B0A"/>
            </a:solidFill>
            <a:prstDash val="solid"/>
          </a:ln>
        </p:spPr>
      </p:sp>
      <p:sp>
        <p:nvSpPr>
          <p:cNvPr id="9" name="Shape 7"/>
          <p:cNvSpPr/>
          <p:nvPr/>
        </p:nvSpPr>
        <p:spPr>
          <a:xfrm>
            <a:off x="3232026" y="2046610"/>
            <a:ext cx="76200" cy="2352154"/>
          </a:xfrm>
          <a:prstGeom prst="roundRect">
            <a:avLst>
              <a:gd name="adj" fmla="val 74638"/>
            </a:avLst>
          </a:prstGeom>
          <a:solidFill>
            <a:srgbClr val="740B0A"/>
          </a:solidFill>
          <a:ln/>
        </p:spPr>
      </p:sp>
      <p:sp>
        <p:nvSpPr>
          <p:cNvPr id="10" name="Text 8"/>
          <p:cNvSpPr/>
          <p:nvPr/>
        </p:nvSpPr>
        <p:spPr>
          <a:xfrm>
            <a:off x="3462635" y="2201019"/>
            <a:ext cx="2275805"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The Empty String Problem</a:t>
            </a:r>
            <a:endParaRPr lang="en-US" sz="1400" dirty="0"/>
          </a:p>
        </p:txBody>
      </p:sp>
      <p:sp>
        <p:nvSpPr>
          <p:cNvPr id="11" name="Text 9"/>
          <p:cNvSpPr/>
          <p:nvPr/>
        </p:nvSpPr>
        <p:spPr>
          <a:xfrm>
            <a:off x="3462635" y="2727499"/>
            <a:ext cx="2275805"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Developers sometimes use an empty string (alt="") to denote "decorative" images that screen readers should skip</a:t>
            </a:r>
            <a:endParaRPr lang="en-US" sz="1050" dirty="0"/>
          </a:p>
        </p:txBody>
      </p:sp>
      <p:sp>
        <p:nvSpPr>
          <p:cNvPr id="12" name="Shape 10"/>
          <p:cNvSpPr/>
          <p:nvPr/>
        </p:nvSpPr>
        <p:spPr>
          <a:xfrm>
            <a:off x="6028209" y="2046610"/>
            <a:ext cx="2641848" cy="2352154"/>
          </a:xfrm>
          <a:prstGeom prst="roundRect">
            <a:avLst>
              <a:gd name="adj" fmla="val 3888"/>
            </a:avLst>
          </a:prstGeom>
          <a:solidFill>
            <a:srgbClr val="0A0A0A">
              <a:alpha val="95000"/>
            </a:srgbClr>
          </a:solidFill>
          <a:ln w="19050">
            <a:solidFill>
              <a:srgbClr val="510C04"/>
            </a:solidFill>
            <a:prstDash val="solid"/>
          </a:ln>
        </p:spPr>
      </p:sp>
      <p:sp>
        <p:nvSpPr>
          <p:cNvPr id="13" name="Shape 11"/>
          <p:cNvSpPr/>
          <p:nvPr/>
        </p:nvSpPr>
        <p:spPr>
          <a:xfrm>
            <a:off x="6009159" y="2046610"/>
            <a:ext cx="76200" cy="2352154"/>
          </a:xfrm>
          <a:prstGeom prst="roundRect">
            <a:avLst>
              <a:gd name="adj" fmla="val 74638"/>
            </a:avLst>
          </a:prstGeom>
          <a:solidFill>
            <a:srgbClr val="510C04"/>
          </a:solidFill>
          <a:ln/>
        </p:spPr>
      </p:sp>
      <p:sp>
        <p:nvSpPr>
          <p:cNvPr id="14" name="Text 12"/>
          <p:cNvSpPr/>
          <p:nvPr/>
        </p:nvSpPr>
        <p:spPr>
          <a:xfrm>
            <a:off x="6239768" y="2201019"/>
            <a:ext cx="2275880"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Software-Dependent Behavior</a:t>
            </a:r>
            <a:endParaRPr lang="en-US" sz="1400" dirty="0"/>
          </a:p>
        </p:txBody>
      </p:sp>
      <p:sp>
        <p:nvSpPr>
          <p:cNvPr id="15" name="Text 13"/>
          <p:cNvSpPr/>
          <p:nvPr/>
        </p:nvSpPr>
        <p:spPr>
          <a:xfrm>
            <a:off x="6239768" y="2727499"/>
            <a:ext cx="2275880" cy="1516856"/>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Relying on empty strings is flawed: depending on the specific screen reader software being used, an empty string might still be announced as an unlabeled, confusing image element to the user</a:t>
            </a:r>
            <a:endParaRPr lang="en-US" sz="1050" dirty="0"/>
          </a:p>
        </p:txBody>
      </p:sp>
    </p:spTree>
    <p:extLst>
      <p:ext uri="{BB962C8B-B14F-4D97-AF65-F5344CB8AC3E}">
        <p14:creationId xmlns:p14="http://schemas.microsoft.com/office/powerpoint/2010/main" val="1905805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pic>
        <p:nvPicPr>
          <p:cNvPr id="3" name="Image 1" descr="preencoded.png"/>
          <p:cNvPicPr>
            <a:picLocks noChangeAspect="1"/>
          </p:cNvPicPr>
          <p:nvPr/>
        </p:nvPicPr>
        <p:blipFill>
          <a:blip r:embed="rId4"/>
          <a:stretch>
            <a:fillRect/>
          </a:stretch>
        </p:blipFill>
        <p:spPr>
          <a:xfrm>
            <a:off x="5639624" y="2019522"/>
            <a:ext cx="3504376" cy="1583829"/>
          </a:xfrm>
          <a:prstGeom prst="rect">
            <a:avLst/>
          </a:prstGeom>
        </p:spPr>
      </p:pic>
      <p:sp>
        <p:nvSpPr>
          <p:cNvPr id="4" name="Text 0"/>
          <p:cNvSpPr/>
          <p:nvPr/>
        </p:nvSpPr>
        <p:spPr>
          <a:xfrm>
            <a:off x="473943" y="551483"/>
            <a:ext cx="4767114" cy="1336328"/>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Analyzing Understandability: Ad Disclosure</a:t>
            </a:r>
            <a:endParaRPr lang="en-US" sz="2800" dirty="0"/>
          </a:p>
        </p:txBody>
      </p:sp>
      <p:sp>
        <p:nvSpPr>
          <p:cNvPr id="5" name="Text 1"/>
          <p:cNvSpPr/>
          <p:nvPr/>
        </p:nvSpPr>
        <p:spPr>
          <a:xfrm>
            <a:off x="473943" y="2090886"/>
            <a:ext cx="4767114"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second test examines </a:t>
            </a:r>
            <a:r>
              <a:rPr lang="en-US" sz="1050" b="1" dirty="0">
                <a:solidFill>
                  <a:srgbClr val="C91313"/>
                </a:solidFill>
                <a:latin typeface="DM Sans" pitchFamily="34" charset="0"/>
                <a:ea typeface="DM Sans" pitchFamily="34" charset="-122"/>
                <a:cs typeface="DM Sans" pitchFamily="34" charset="-120"/>
              </a:rPr>
              <a:t>understandability</a:t>
            </a:r>
            <a:r>
              <a:rPr lang="en-US" sz="1050" dirty="0">
                <a:solidFill>
                  <a:srgbClr val="FFE5E5"/>
                </a:solidFill>
                <a:latin typeface="DM Sans" pitchFamily="34" charset="0"/>
                <a:ea typeface="DM Sans" pitchFamily="34" charset="-122"/>
                <a:cs typeface="DM Sans" pitchFamily="34" charset="-120"/>
              </a:rPr>
              <a:t>: does the user explicitly know they are interacting with third-party promotional content? Federal Trade Commission (FTC) guidelines state that clear disclosure of online advertising is necessary for consumers to make informed decisions.</a:t>
            </a:r>
            <a:endParaRPr lang="en-US" sz="1050" dirty="0"/>
          </a:p>
        </p:txBody>
      </p:sp>
      <p:sp>
        <p:nvSpPr>
          <p:cNvPr id="6" name="Text 2"/>
          <p:cNvSpPr/>
          <p:nvPr/>
        </p:nvSpPr>
        <p:spPr>
          <a:xfrm>
            <a:off x="473943" y="3245346"/>
            <a:ext cx="2092226" cy="222647"/>
          </a:xfrm>
          <a:prstGeom prst="rect">
            <a:avLst/>
          </a:prstGeom>
          <a:noFill/>
          <a:ln/>
        </p:spPr>
        <p:txBody>
          <a:bodyPr wrap="none" lIns="0" tIns="0" rIns="0" bIns="0" rtlCol="0" anchor="t"/>
          <a:lstStyle/>
          <a:p>
            <a:pPr marL="0" indent="0" algn="l">
              <a:lnSpc>
                <a:spcPts val="1750"/>
              </a:lnSpc>
              <a:buNone/>
            </a:pPr>
            <a:r>
              <a:rPr lang="en-US" sz="1400" dirty="0">
                <a:solidFill>
                  <a:srgbClr val="FAEBEB"/>
                </a:solidFill>
                <a:latin typeface="Dela Gothic One" pitchFamily="34" charset="0"/>
                <a:ea typeface="Dela Gothic One" pitchFamily="34" charset="-122"/>
                <a:cs typeface="Dela Gothic One" pitchFamily="34" charset="-120"/>
              </a:rPr>
              <a:t>Disclosure Analysis</a:t>
            </a:r>
            <a:endParaRPr lang="en-US" sz="1400" dirty="0"/>
          </a:p>
        </p:txBody>
      </p:sp>
      <p:sp>
        <p:nvSpPr>
          <p:cNvPr id="7" name="Text 3"/>
          <p:cNvSpPr/>
          <p:nvPr/>
        </p:nvSpPr>
        <p:spPr>
          <a:xfrm>
            <a:off x="473943" y="3603352"/>
            <a:ext cx="2728094"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Researchers searched accessibility trees for specific root words and suffixes (e.g., "ad", "sponsor", "promot") to determine if the ad explicitly announced its status.</a:t>
            </a:r>
            <a:endParaRPr lang="en-US" sz="1050" dirty="0"/>
          </a:p>
        </p:txBody>
      </p:sp>
      <p:sp>
        <p:nvSpPr>
          <p:cNvPr id="8" name="Text 4"/>
          <p:cNvSpPr/>
          <p:nvPr/>
        </p:nvSpPr>
        <p:spPr>
          <a:xfrm>
            <a:off x="3537198" y="3231803"/>
            <a:ext cx="1708547" cy="433388"/>
          </a:xfrm>
          <a:prstGeom prst="rect">
            <a:avLst/>
          </a:prstGeom>
          <a:noFill/>
          <a:ln/>
        </p:spPr>
        <p:txBody>
          <a:bodyPr wrap="square" lIns="0" tIns="0" rIns="0" bIns="0" rtlCol="0" anchor="t"/>
          <a:lstStyle/>
          <a:p>
            <a:pPr marL="0" indent="0" algn="l">
              <a:lnSpc>
                <a:spcPts val="1700"/>
              </a:lnSpc>
              <a:buNone/>
            </a:pPr>
            <a:r>
              <a:rPr lang="en-US" sz="1050" i="1" dirty="0">
                <a:solidFill>
                  <a:srgbClr val="FFE5E5"/>
                </a:solidFill>
                <a:latin typeface="DM Sans" pitchFamily="34" charset="0"/>
                <a:ea typeface="DM Sans" pitchFamily="34" charset="-122"/>
                <a:cs typeface="DM Sans" pitchFamily="34" charset="-120"/>
              </a:rPr>
              <a:t>[Table 1: Strings denoting ad disclosure]</a:t>
            </a:r>
            <a:endParaRPr lang="en-US" sz="1050" dirty="0"/>
          </a:p>
        </p:txBody>
      </p:sp>
    </p:spTree>
    <p:extLst>
      <p:ext uri="{BB962C8B-B14F-4D97-AF65-F5344CB8AC3E}">
        <p14:creationId xmlns:p14="http://schemas.microsoft.com/office/powerpoint/2010/main" val="156121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6885" y="360759"/>
            <a:ext cx="8270230" cy="821234"/>
          </a:xfrm>
          <a:prstGeom prst="rect">
            <a:avLst/>
          </a:prstGeom>
          <a:noFill/>
          <a:ln/>
        </p:spPr>
        <p:txBody>
          <a:bodyPr wrap="square" lIns="0" tIns="0" rIns="0" bIns="0" rtlCol="0" anchor="t"/>
          <a:lstStyle/>
          <a:p>
            <a:pPr marL="0" indent="0" algn="l">
              <a:lnSpc>
                <a:spcPts val="3200"/>
              </a:lnSpc>
              <a:buNone/>
            </a:pPr>
            <a:r>
              <a:rPr lang="en-US" sz="2550" dirty="0">
                <a:solidFill>
                  <a:srgbClr val="FAEBEB"/>
                </a:solidFill>
                <a:latin typeface="Dela Gothic One" pitchFamily="34" charset="0"/>
                <a:ea typeface="Dela Gothic One" pitchFamily="34" charset="-122"/>
                <a:cs typeface="Dela Gothic One" pitchFamily="34" charset="-120"/>
              </a:rPr>
              <a:t>The Big Picture: A Largely Inaccessible Ecosystem</a:t>
            </a:r>
            <a:endParaRPr lang="en-US" sz="2550" dirty="0"/>
          </a:p>
        </p:txBody>
      </p:sp>
      <p:sp>
        <p:nvSpPr>
          <p:cNvPr id="3" name="Text 1"/>
          <p:cNvSpPr/>
          <p:nvPr/>
        </p:nvSpPr>
        <p:spPr>
          <a:xfrm>
            <a:off x="436885" y="1354559"/>
            <a:ext cx="8270230" cy="383828"/>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The overarching results of our comprehensive measurement study paint a stark picture of the modern web advertising landscape. Out of </a:t>
            </a:r>
            <a:r>
              <a:rPr lang="en-US" sz="950" b="1" dirty="0">
                <a:solidFill>
                  <a:srgbClr val="FFE5E5"/>
                </a:solidFill>
                <a:latin typeface="DM Sans" pitchFamily="34" charset="0"/>
                <a:ea typeface="DM Sans" pitchFamily="34" charset="-122"/>
                <a:cs typeface="DM Sans" pitchFamily="34" charset="-120"/>
              </a:rPr>
              <a:t>8,097 unique ads</a:t>
            </a:r>
            <a:r>
              <a:rPr lang="en-US" sz="950" dirty="0">
                <a:solidFill>
                  <a:srgbClr val="FFE5E5"/>
                </a:solidFill>
                <a:latin typeface="DM Sans" pitchFamily="34" charset="0"/>
                <a:ea typeface="DM Sans" pitchFamily="34" charset="-122"/>
                <a:cs typeface="DM Sans" pitchFamily="34" charset="-120"/>
              </a:rPr>
              <a:t> analyzed across the ecosystem, a mere </a:t>
            </a:r>
            <a:r>
              <a:rPr lang="en-US" sz="950" b="1" dirty="0">
                <a:solidFill>
                  <a:srgbClr val="C91313"/>
                </a:solidFill>
                <a:latin typeface="DM Sans" pitchFamily="34" charset="0"/>
                <a:ea typeface="DM Sans" pitchFamily="34" charset="-122"/>
                <a:cs typeface="DM Sans" pitchFamily="34" charset="-120"/>
              </a:rPr>
              <a:t>13.2%</a:t>
            </a:r>
            <a:r>
              <a:rPr lang="en-US" sz="950" dirty="0">
                <a:solidFill>
                  <a:srgbClr val="FFE5E5"/>
                </a:solidFill>
                <a:latin typeface="DM Sans" pitchFamily="34" charset="0"/>
                <a:ea typeface="DM Sans" pitchFamily="34" charset="-122"/>
                <a:cs typeface="DM Sans" pitchFamily="34" charset="-120"/>
              </a:rPr>
              <a:t> exhibited no inaccessible characteristics whatsoever.</a:t>
            </a:r>
            <a:endParaRPr lang="en-US" sz="950" dirty="0"/>
          </a:p>
        </p:txBody>
      </p:sp>
      <p:sp>
        <p:nvSpPr>
          <p:cNvPr id="4" name="Text 2"/>
          <p:cNvSpPr/>
          <p:nvPr/>
        </p:nvSpPr>
        <p:spPr>
          <a:xfrm>
            <a:off x="436885" y="1867793"/>
            <a:ext cx="8270230" cy="383828"/>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This means that </a:t>
            </a:r>
            <a:r>
              <a:rPr lang="en-US" sz="950" b="1" dirty="0">
                <a:solidFill>
                  <a:srgbClr val="C91313"/>
                </a:solidFill>
                <a:latin typeface="DM Sans" pitchFamily="34" charset="0"/>
                <a:ea typeface="DM Sans" pitchFamily="34" charset="-122"/>
                <a:cs typeface="DM Sans" pitchFamily="34" charset="-120"/>
              </a:rPr>
              <a:t>87% of online advertisements</a:t>
            </a:r>
            <a:r>
              <a:rPr lang="en-US" sz="950" dirty="0">
                <a:solidFill>
                  <a:srgbClr val="FFE5E5"/>
                </a:solidFill>
                <a:latin typeface="DM Sans" pitchFamily="34" charset="0"/>
                <a:ea typeface="DM Sans" pitchFamily="34" charset="-122"/>
                <a:cs typeface="DM Sans" pitchFamily="34" charset="-120"/>
              </a:rPr>
              <a:t> fail basic accessibility standards in some capacity, creating significant barriers for users with disabilities.</a:t>
            </a:r>
            <a:endParaRPr lang="en-US" sz="950" dirty="0"/>
          </a:p>
        </p:txBody>
      </p:sp>
      <p:sp>
        <p:nvSpPr>
          <p:cNvPr id="5" name="Text 3"/>
          <p:cNvSpPr/>
          <p:nvPr/>
        </p:nvSpPr>
        <p:spPr>
          <a:xfrm>
            <a:off x="436885" y="2424187"/>
            <a:ext cx="3243263" cy="246385"/>
          </a:xfrm>
          <a:prstGeom prst="rect">
            <a:avLst/>
          </a:prstGeom>
          <a:noFill/>
          <a:ln/>
        </p:spPr>
        <p:txBody>
          <a:bodyPr wrap="none" lIns="0" tIns="0" rIns="0" bIns="0" rtlCol="0" anchor="t"/>
          <a:lstStyle/>
          <a:p>
            <a:pPr marL="0" indent="0" algn="l">
              <a:lnSpc>
                <a:spcPts val="1900"/>
              </a:lnSpc>
              <a:buNone/>
            </a:pPr>
            <a:r>
              <a:rPr lang="en-US" sz="1550" dirty="0">
                <a:solidFill>
                  <a:srgbClr val="FAEBEB"/>
                </a:solidFill>
                <a:latin typeface="Dela Gothic One" pitchFamily="34" charset="0"/>
                <a:ea typeface="Dela Gothic One" pitchFamily="34" charset="-122"/>
                <a:cs typeface="Dela Gothic One" pitchFamily="34" charset="-120"/>
              </a:rPr>
              <a:t>The "Non-Descriptive" Trap</a:t>
            </a:r>
            <a:endParaRPr lang="en-US" sz="1550" dirty="0"/>
          </a:p>
        </p:txBody>
      </p:sp>
      <p:sp>
        <p:nvSpPr>
          <p:cNvPr id="6" name="Text 4"/>
          <p:cNvSpPr/>
          <p:nvPr/>
        </p:nvSpPr>
        <p:spPr>
          <a:xfrm>
            <a:off x="436885" y="2843138"/>
            <a:ext cx="8270230" cy="383828"/>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A particularly insidious pattern emerged: over a third (</a:t>
            </a:r>
            <a:r>
              <a:rPr lang="en-US" sz="950" b="1" dirty="0">
                <a:solidFill>
                  <a:srgbClr val="FFE5E5"/>
                </a:solidFill>
                <a:latin typeface="DM Sans" pitchFamily="34" charset="0"/>
                <a:ea typeface="DM Sans" pitchFamily="34" charset="-122"/>
                <a:cs typeface="DM Sans" pitchFamily="34" charset="-120"/>
              </a:rPr>
              <a:t>35.1%</a:t>
            </a:r>
            <a:r>
              <a:rPr lang="en-US" sz="950" dirty="0">
                <a:solidFill>
                  <a:srgbClr val="FFE5E5"/>
                </a:solidFill>
                <a:latin typeface="DM Sans" pitchFamily="34" charset="0"/>
                <a:ea typeface="DM Sans" pitchFamily="34" charset="-122"/>
                <a:cs typeface="DM Sans" pitchFamily="34" charset="-120"/>
              </a:rPr>
              <a:t>) of ads contain </a:t>
            </a:r>
            <a:r>
              <a:rPr lang="en-US" sz="950" b="1" dirty="0">
                <a:solidFill>
                  <a:srgbClr val="FFE5E5"/>
                </a:solidFill>
                <a:latin typeface="DM Sans" pitchFamily="34" charset="0"/>
                <a:ea typeface="DM Sans" pitchFamily="34" charset="-122"/>
                <a:cs typeface="DM Sans" pitchFamily="34" charset="-120"/>
              </a:rPr>
              <a:t>only non-descriptive information</a:t>
            </a:r>
            <a:r>
              <a:rPr lang="en-US" sz="950" dirty="0">
                <a:solidFill>
                  <a:srgbClr val="FFE5E5"/>
                </a:solidFill>
                <a:latin typeface="DM Sans" pitchFamily="34" charset="0"/>
                <a:ea typeface="DM Sans" pitchFamily="34" charset="-122"/>
                <a:cs typeface="DM Sans" pitchFamily="34" charset="-120"/>
              </a:rPr>
              <a:t>—for example, an ARIA-label that simply says "Advertisement" without explaining the actual product or service being promoted.</a:t>
            </a:r>
            <a:endParaRPr lang="en-US" sz="950" dirty="0"/>
          </a:p>
        </p:txBody>
      </p:sp>
      <p:pic>
        <p:nvPicPr>
          <p:cNvPr id="7" name="Image 0" descr="preencoded.png"/>
          <p:cNvPicPr>
            <a:picLocks noChangeAspect="1"/>
          </p:cNvPicPr>
          <p:nvPr/>
        </p:nvPicPr>
        <p:blipFill>
          <a:blip r:embed="rId3"/>
          <a:stretch>
            <a:fillRect/>
          </a:stretch>
        </p:blipFill>
        <p:spPr>
          <a:xfrm>
            <a:off x="436885" y="3356372"/>
            <a:ext cx="4139208" cy="1104974"/>
          </a:xfrm>
          <a:prstGeom prst="rect">
            <a:avLst/>
          </a:prstGeom>
        </p:spPr>
      </p:pic>
      <p:sp>
        <p:nvSpPr>
          <p:cNvPr id="8" name="Text 5"/>
          <p:cNvSpPr/>
          <p:nvPr/>
        </p:nvSpPr>
        <p:spPr>
          <a:xfrm>
            <a:off x="436885" y="4590752"/>
            <a:ext cx="8270230" cy="191914"/>
          </a:xfrm>
          <a:prstGeom prst="rect">
            <a:avLst/>
          </a:prstGeom>
          <a:noFill/>
          <a:ln/>
        </p:spPr>
        <p:txBody>
          <a:bodyPr wrap="none" lIns="0" tIns="0" rIns="0" bIns="0" rtlCol="0" anchor="t"/>
          <a:lstStyle/>
          <a:p>
            <a:pPr marL="0" indent="0" algn="l">
              <a:lnSpc>
                <a:spcPts val="1500"/>
              </a:lnSpc>
              <a:buNone/>
            </a:pPr>
            <a:endParaRPr lang="en-US" sz="950" dirty="0"/>
          </a:p>
        </p:txBody>
      </p:sp>
    </p:spTree>
    <p:extLst>
      <p:ext uri="{BB962C8B-B14F-4D97-AF65-F5344CB8AC3E}">
        <p14:creationId xmlns:p14="http://schemas.microsoft.com/office/powerpoint/2010/main" val="3017017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627311"/>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Perceivability Failures: Visual Information Lost in Translation</a:t>
            </a:r>
            <a:endParaRPr lang="en-US" sz="2800" dirty="0"/>
          </a:p>
        </p:txBody>
      </p:sp>
      <p:sp>
        <p:nvSpPr>
          <p:cNvPr id="3" name="Text 1"/>
          <p:cNvSpPr/>
          <p:nvPr/>
        </p:nvSpPr>
        <p:spPr>
          <a:xfrm>
            <a:off x="473943" y="1721272"/>
            <a:ext cx="8196114" cy="216694"/>
          </a:xfrm>
          <a:prstGeom prst="rect">
            <a:avLst/>
          </a:prstGeom>
          <a:noFill/>
          <a:ln/>
        </p:spPr>
        <p:txBody>
          <a:bodyPr wrap="non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researchers documented massive failures in how critical visual information is translated into accessible text alternatives.</a:t>
            </a:r>
            <a:endParaRPr lang="en-US" sz="1050" dirty="0"/>
          </a:p>
        </p:txBody>
      </p:sp>
      <p:sp>
        <p:nvSpPr>
          <p:cNvPr id="4" name="Shape 2"/>
          <p:cNvSpPr/>
          <p:nvPr/>
        </p:nvSpPr>
        <p:spPr>
          <a:xfrm>
            <a:off x="473943" y="2090291"/>
            <a:ext cx="2641774" cy="2425824"/>
          </a:xfrm>
          <a:prstGeom prst="roundRect">
            <a:avLst>
              <a:gd name="adj" fmla="val 2345"/>
            </a:avLst>
          </a:prstGeom>
          <a:solidFill>
            <a:srgbClr val="740B0B"/>
          </a:solidFill>
          <a:ln w="4763">
            <a:solidFill>
              <a:srgbClr val="8D2424"/>
            </a:solidFill>
            <a:prstDash val="solid"/>
          </a:ln>
        </p:spPr>
      </p:sp>
      <p:sp>
        <p:nvSpPr>
          <p:cNvPr id="5" name="Shape 3"/>
          <p:cNvSpPr/>
          <p:nvPr/>
        </p:nvSpPr>
        <p:spPr>
          <a:xfrm>
            <a:off x="614065" y="2230413"/>
            <a:ext cx="406226" cy="406226"/>
          </a:xfrm>
          <a:prstGeom prst="roundRect">
            <a:avLst>
              <a:gd name="adj" fmla="val 14067117"/>
            </a:avLst>
          </a:prstGeom>
          <a:solidFill>
            <a:srgbClr val="C91313"/>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5760" y="2342108"/>
            <a:ext cx="182761" cy="182761"/>
          </a:xfrm>
          <a:prstGeom prst="rect">
            <a:avLst/>
          </a:prstGeom>
        </p:spPr>
      </p:pic>
      <p:sp>
        <p:nvSpPr>
          <p:cNvPr id="7" name="Text 4"/>
          <p:cNvSpPr/>
          <p:nvPr/>
        </p:nvSpPr>
        <p:spPr>
          <a:xfrm>
            <a:off x="614065" y="2771998"/>
            <a:ext cx="2232571"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Alt-Text Deficiencies</a:t>
            </a:r>
            <a:endParaRPr lang="en-US" sz="1400" dirty="0"/>
          </a:p>
        </p:txBody>
      </p:sp>
      <p:sp>
        <p:nvSpPr>
          <p:cNvPr id="8" name="Text 5"/>
          <p:cNvSpPr/>
          <p:nvPr/>
        </p:nvSpPr>
        <p:spPr>
          <a:xfrm>
            <a:off x="614065" y="3075831"/>
            <a:ext cx="2361530" cy="866775"/>
          </a:xfrm>
          <a:prstGeom prst="rect">
            <a:avLst/>
          </a:prstGeom>
          <a:noFill/>
          <a:ln/>
        </p:spPr>
        <p:txBody>
          <a:bodyPr wrap="square" lIns="0" tIns="0" rIns="0" bIns="0" rtlCol="0" anchor="t"/>
          <a:lstStyle/>
          <a:p>
            <a:pPr marL="0" indent="0" algn="l">
              <a:lnSpc>
                <a:spcPts val="1700"/>
              </a:lnSpc>
              <a:buNone/>
            </a:pPr>
            <a:r>
              <a:rPr lang="en-US" sz="1050" b="1" dirty="0">
                <a:solidFill>
                  <a:srgbClr val="C91313"/>
                </a:solidFill>
                <a:latin typeface="DM Sans" pitchFamily="34" charset="0"/>
                <a:ea typeface="DM Sans" pitchFamily="34" charset="-122"/>
                <a:cs typeface="DM Sans" pitchFamily="34" charset="-120"/>
              </a:rPr>
              <a:t>56.8%</a:t>
            </a:r>
            <a:r>
              <a:rPr lang="en-US" sz="1050" dirty="0">
                <a:solidFill>
                  <a:srgbClr val="FFE5E5"/>
                </a:solidFill>
                <a:latin typeface="DM Sans" pitchFamily="34" charset="0"/>
                <a:ea typeface="DM Sans" pitchFamily="34" charset="-122"/>
                <a:cs typeface="DM Sans" pitchFamily="34" charset="-120"/>
              </a:rPr>
              <a:t> of ads completely lack alt-text, use an empty string, or provide non-descriptive placeholder text that offers no meaningful information.</a:t>
            </a:r>
            <a:endParaRPr lang="en-US" sz="1050" dirty="0"/>
          </a:p>
        </p:txBody>
      </p:sp>
      <p:sp>
        <p:nvSpPr>
          <p:cNvPr id="9" name="Shape 6"/>
          <p:cNvSpPr/>
          <p:nvPr/>
        </p:nvSpPr>
        <p:spPr>
          <a:xfrm>
            <a:off x="3251076" y="2090291"/>
            <a:ext cx="2641774" cy="2425824"/>
          </a:xfrm>
          <a:prstGeom prst="roundRect">
            <a:avLst>
              <a:gd name="adj" fmla="val 2345"/>
            </a:avLst>
          </a:prstGeom>
          <a:solidFill>
            <a:srgbClr val="740B0B"/>
          </a:solidFill>
          <a:ln w="4763">
            <a:solidFill>
              <a:srgbClr val="8D2424"/>
            </a:solidFill>
            <a:prstDash val="solid"/>
          </a:ln>
        </p:spPr>
      </p:sp>
      <p:sp>
        <p:nvSpPr>
          <p:cNvPr id="10" name="Shape 7"/>
          <p:cNvSpPr/>
          <p:nvPr/>
        </p:nvSpPr>
        <p:spPr>
          <a:xfrm>
            <a:off x="3391198" y="2230413"/>
            <a:ext cx="406226" cy="406226"/>
          </a:xfrm>
          <a:prstGeom prst="roundRect">
            <a:avLst>
              <a:gd name="adj" fmla="val 14067117"/>
            </a:avLst>
          </a:prstGeom>
          <a:solidFill>
            <a:srgbClr val="C91313"/>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893" y="2342108"/>
            <a:ext cx="182761" cy="182761"/>
          </a:xfrm>
          <a:prstGeom prst="rect">
            <a:avLst/>
          </a:prstGeom>
        </p:spPr>
      </p:pic>
      <p:sp>
        <p:nvSpPr>
          <p:cNvPr id="12" name="Text 8"/>
          <p:cNvSpPr/>
          <p:nvPr/>
        </p:nvSpPr>
        <p:spPr>
          <a:xfrm>
            <a:off x="3391198" y="2771998"/>
            <a:ext cx="2270150"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Historical Stagnation</a:t>
            </a:r>
            <a:endParaRPr lang="en-US" sz="1400" dirty="0"/>
          </a:p>
        </p:txBody>
      </p:sp>
      <p:sp>
        <p:nvSpPr>
          <p:cNvPr id="13" name="Text 9"/>
          <p:cNvSpPr/>
          <p:nvPr/>
        </p:nvSpPr>
        <p:spPr>
          <a:xfrm>
            <a:off x="3391198" y="3075831"/>
            <a:ext cx="2361530" cy="1083469"/>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Only a slight improvement from the 2001 study, which found approximately 75% of ads lacked helpful alt-text—progress has been glacial.</a:t>
            </a:r>
            <a:endParaRPr lang="en-US" sz="1050" dirty="0"/>
          </a:p>
        </p:txBody>
      </p:sp>
      <p:sp>
        <p:nvSpPr>
          <p:cNvPr id="14" name="Shape 10"/>
          <p:cNvSpPr/>
          <p:nvPr/>
        </p:nvSpPr>
        <p:spPr>
          <a:xfrm>
            <a:off x="6028209" y="2090291"/>
            <a:ext cx="2641848" cy="2425824"/>
          </a:xfrm>
          <a:prstGeom prst="roundRect">
            <a:avLst>
              <a:gd name="adj" fmla="val 2345"/>
            </a:avLst>
          </a:prstGeom>
          <a:solidFill>
            <a:srgbClr val="740B0B"/>
          </a:solidFill>
          <a:ln w="4763">
            <a:solidFill>
              <a:srgbClr val="8D2424"/>
            </a:solidFill>
            <a:prstDash val="solid"/>
          </a:ln>
        </p:spPr>
      </p:sp>
      <p:sp>
        <p:nvSpPr>
          <p:cNvPr id="15" name="Shape 11"/>
          <p:cNvSpPr/>
          <p:nvPr/>
        </p:nvSpPr>
        <p:spPr>
          <a:xfrm>
            <a:off x="6168330" y="2230413"/>
            <a:ext cx="406226" cy="406226"/>
          </a:xfrm>
          <a:prstGeom prst="roundRect">
            <a:avLst>
              <a:gd name="adj" fmla="val 14067117"/>
            </a:avLst>
          </a:prstGeom>
          <a:solidFill>
            <a:srgbClr val="C91313"/>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026" y="2342108"/>
            <a:ext cx="182761" cy="182761"/>
          </a:xfrm>
          <a:prstGeom prst="rect">
            <a:avLst/>
          </a:prstGeom>
        </p:spPr>
      </p:pic>
      <p:sp>
        <p:nvSpPr>
          <p:cNvPr id="17" name="Text 12"/>
          <p:cNvSpPr/>
          <p:nvPr/>
        </p:nvSpPr>
        <p:spPr>
          <a:xfrm>
            <a:off x="6168330" y="2771998"/>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Title Tag Misuse</a:t>
            </a:r>
            <a:endParaRPr lang="en-US" sz="1400" dirty="0"/>
          </a:p>
        </p:txBody>
      </p:sp>
      <p:sp>
        <p:nvSpPr>
          <p:cNvPr id="18" name="Text 13"/>
          <p:cNvSpPr/>
          <p:nvPr/>
        </p:nvSpPr>
        <p:spPr>
          <a:xfrm>
            <a:off x="6168330" y="3075831"/>
            <a:ext cx="2361605" cy="1300163"/>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Despite W3C guidelines explicitly advising against using the HTML "title" attribute for accessibility, developers used it in 1,205 unique ads, rendering information imperceivable to many screen readers.</a:t>
            </a:r>
            <a:endParaRPr lang="en-US" sz="1050" dirty="0"/>
          </a:p>
        </p:txBody>
      </p:sp>
    </p:spTree>
    <p:extLst>
      <p:ext uri="{BB962C8B-B14F-4D97-AF65-F5344CB8AC3E}">
        <p14:creationId xmlns:p14="http://schemas.microsoft.com/office/powerpoint/2010/main" val="241728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1206624"/>
            <a:ext cx="7166893"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Understandability &amp; The Link Trap</a:t>
            </a:r>
            <a:endParaRPr lang="en-US" sz="2800" dirty="0"/>
          </a:p>
        </p:txBody>
      </p:sp>
      <p:sp>
        <p:nvSpPr>
          <p:cNvPr id="3" name="Text 1"/>
          <p:cNvSpPr/>
          <p:nvPr/>
        </p:nvSpPr>
        <p:spPr>
          <a:xfrm>
            <a:off x="473943" y="1990502"/>
            <a:ext cx="3802261"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Ad Disclosure: The Good News</a:t>
            </a:r>
            <a:endParaRPr lang="en-US" sz="1650" dirty="0"/>
          </a:p>
        </p:txBody>
      </p:sp>
      <p:sp>
        <p:nvSpPr>
          <p:cNvPr id="4" name="Text 2"/>
          <p:cNvSpPr/>
          <p:nvPr/>
        </p:nvSpPr>
        <p:spPr>
          <a:xfrm>
            <a:off x="473943" y="2393082"/>
            <a:ext cx="3932858"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vast majority of the ecosystem properly discloses ad status. </a:t>
            </a:r>
            <a:r>
              <a:rPr lang="en-US" sz="1050" b="1" dirty="0">
                <a:solidFill>
                  <a:srgbClr val="C91313"/>
                </a:solidFill>
                <a:latin typeface="DM Sans" pitchFamily="34" charset="0"/>
                <a:ea typeface="DM Sans" pitchFamily="34" charset="-122"/>
                <a:cs typeface="DM Sans" pitchFamily="34" charset="-120"/>
              </a:rPr>
              <a:t>93.7%</a:t>
            </a:r>
            <a:r>
              <a:rPr lang="en-US" sz="1050" dirty="0">
                <a:solidFill>
                  <a:srgbClr val="FFE5E5"/>
                </a:solidFill>
                <a:latin typeface="DM Sans" pitchFamily="34" charset="0"/>
                <a:ea typeface="DM Sans" pitchFamily="34" charset="-122"/>
                <a:cs typeface="DM Sans" pitchFamily="34" charset="-120"/>
              </a:rPr>
              <a:t> of ads identify themselves as advertisements through text that screen readers can detect and announce to users.</a:t>
            </a:r>
            <a:endParaRPr lang="en-US" sz="1050" dirty="0"/>
          </a:p>
        </p:txBody>
      </p:sp>
      <p:sp>
        <p:nvSpPr>
          <p:cNvPr id="5" name="Text 3"/>
          <p:cNvSpPr/>
          <p:nvPr/>
        </p:nvSpPr>
        <p:spPr>
          <a:xfrm>
            <a:off x="473943" y="3381673"/>
            <a:ext cx="3932858"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This represents a significant improvement in regulatory compliance and ethical transparency.</a:t>
            </a:r>
            <a:endParaRPr lang="en-US" sz="1050" dirty="0"/>
          </a:p>
        </p:txBody>
      </p:sp>
      <p:sp>
        <p:nvSpPr>
          <p:cNvPr id="6" name="Text 4"/>
          <p:cNvSpPr/>
          <p:nvPr/>
        </p:nvSpPr>
        <p:spPr>
          <a:xfrm>
            <a:off x="4741962" y="1990502"/>
            <a:ext cx="3360093"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Link Clarity: The Bad News</a:t>
            </a:r>
            <a:endParaRPr lang="en-US" sz="1650" dirty="0"/>
          </a:p>
        </p:txBody>
      </p:sp>
      <p:sp>
        <p:nvSpPr>
          <p:cNvPr id="7" name="Text 5"/>
          <p:cNvSpPr/>
          <p:nvPr/>
        </p:nvSpPr>
        <p:spPr>
          <a:xfrm>
            <a:off x="4741962" y="2393082"/>
            <a:ext cx="3932858" cy="433388"/>
          </a:xfrm>
          <a:prstGeom prst="rect">
            <a:avLst/>
          </a:prstGeom>
          <a:noFill/>
          <a:ln/>
        </p:spPr>
        <p:txBody>
          <a:bodyPr wrap="square" lIns="0" tIns="0" rIns="0" bIns="0" rtlCol="0" anchor="t"/>
          <a:lstStyle/>
          <a:p>
            <a:pPr marL="0" indent="0" algn="l">
              <a:lnSpc>
                <a:spcPts val="1700"/>
              </a:lnSpc>
              <a:buNone/>
            </a:pPr>
            <a:r>
              <a:rPr lang="en-US" sz="1050" b="1" dirty="0">
                <a:solidFill>
                  <a:srgbClr val="C91313"/>
                </a:solidFill>
                <a:latin typeface="DM Sans" pitchFamily="34" charset="0"/>
                <a:ea typeface="DM Sans" pitchFamily="34" charset="-122"/>
                <a:cs typeface="DM Sans" pitchFamily="34" charset="-120"/>
              </a:rPr>
              <a:t>62.5%</a:t>
            </a:r>
            <a:r>
              <a:rPr lang="en-US" sz="1050" dirty="0">
                <a:solidFill>
                  <a:srgbClr val="FFE5E5"/>
                </a:solidFill>
                <a:latin typeface="DM Sans" pitchFamily="34" charset="0"/>
                <a:ea typeface="DM Sans" pitchFamily="34" charset="-122"/>
                <a:cs typeface="DM Sans" pitchFamily="34" charset="-120"/>
              </a:rPr>
              <a:t> of ads have missing or non-descriptive links that fail to communicate their destination or purpose.</a:t>
            </a:r>
            <a:endParaRPr lang="en-US" sz="1050" dirty="0"/>
          </a:p>
        </p:txBody>
      </p:sp>
      <p:sp>
        <p:nvSpPr>
          <p:cNvPr id="8" name="Text 6"/>
          <p:cNvSpPr/>
          <p:nvPr/>
        </p:nvSpPr>
        <p:spPr>
          <a:xfrm>
            <a:off x="4741962" y="2948285"/>
            <a:ext cx="3932858" cy="866775"/>
          </a:xfrm>
          <a:prstGeom prst="rect">
            <a:avLst/>
          </a:prstGeom>
          <a:noFill/>
          <a:ln/>
        </p:spPr>
        <p:txBody>
          <a:bodyPr wrap="square" lIns="0" tIns="0" rIns="0" bIns="0" rtlCol="0" anchor="t"/>
          <a:lstStyle/>
          <a:p>
            <a:pPr marL="0" indent="0" algn="l">
              <a:lnSpc>
                <a:spcPts val="1700"/>
              </a:lnSpc>
              <a:buNone/>
            </a:pPr>
            <a:r>
              <a:rPr lang="en-US" sz="1050" b="1" dirty="0">
                <a:solidFill>
                  <a:srgbClr val="FFE5E5"/>
                </a:solidFill>
                <a:latin typeface="DM Sans" pitchFamily="34" charset="0"/>
                <a:ea typeface="DM Sans" pitchFamily="34" charset="-122"/>
                <a:cs typeface="DM Sans" pitchFamily="34" charset="-120"/>
              </a:rPr>
              <a:t>User Impact:</a:t>
            </a:r>
            <a:r>
              <a:rPr lang="en-US" sz="1050" dirty="0">
                <a:solidFill>
                  <a:srgbClr val="FFE5E5"/>
                </a:solidFill>
                <a:latin typeface="DM Sans" pitchFamily="34" charset="0"/>
                <a:ea typeface="DM Sans" pitchFamily="34" charset="-122"/>
                <a:cs typeface="DM Sans" pitchFamily="34" charset="-120"/>
              </a:rPr>
              <a:t> Instead of hearing where a link leads, a screen reader user might simply hear the generic word "link"—or worse, be forced to listen to a massive, non-human-readable tracking URL read character-by-character.</a:t>
            </a:r>
            <a:endParaRPr lang="en-US" sz="1050" dirty="0"/>
          </a:p>
        </p:txBody>
      </p:sp>
    </p:spTree>
    <p:extLst>
      <p:ext uri="{BB962C8B-B14F-4D97-AF65-F5344CB8AC3E}">
        <p14:creationId xmlns:p14="http://schemas.microsoft.com/office/powerpoint/2010/main" val="2801142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1693" y="383828"/>
            <a:ext cx="8240613" cy="849064"/>
          </a:xfrm>
          <a:prstGeom prst="rect">
            <a:avLst/>
          </a:prstGeom>
          <a:noFill/>
          <a:ln/>
        </p:spPr>
        <p:txBody>
          <a:bodyPr wrap="square" lIns="0" tIns="0" rIns="0" bIns="0" rtlCol="0" anchor="t"/>
          <a:lstStyle/>
          <a:p>
            <a:pPr marL="0" indent="0" algn="l">
              <a:lnSpc>
                <a:spcPts val="3300"/>
              </a:lnSpc>
              <a:buNone/>
            </a:pPr>
            <a:r>
              <a:rPr lang="en-US" sz="2650" dirty="0">
                <a:solidFill>
                  <a:srgbClr val="FAEBEB"/>
                </a:solidFill>
                <a:latin typeface="Dela Gothic One" pitchFamily="34" charset="0"/>
                <a:ea typeface="Dela Gothic One" pitchFamily="34" charset="-122"/>
                <a:cs typeface="Dela Gothic One" pitchFamily="34" charset="-120"/>
              </a:rPr>
              <a:t>Navigability Constraints: Trapped in the Ad</a:t>
            </a:r>
            <a:endParaRPr lang="en-US" sz="2650" dirty="0"/>
          </a:p>
        </p:txBody>
      </p:sp>
      <p:sp>
        <p:nvSpPr>
          <p:cNvPr id="3" name="Text 1"/>
          <p:cNvSpPr/>
          <p:nvPr/>
        </p:nvSpPr>
        <p:spPr>
          <a:xfrm>
            <a:off x="451693" y="1417365"/>
            <a:ext cx="8240613" cy="403175"/>
          </a:xfrm>
          <a:prstGeom prst="rect">
            <a:avLst/>
          </a:prstGeom>
          <a:noFill/>
          <a:ln/>
        </p:spPr>
        <p:txBody>
          <a:bodyPr wrap="square" lIns="0" tIns="0" rIns="0" bIns="0" rtlCol="0" anchor="t"/>
          <a:lstStyle/>
          <a:p>
            <a:pPr marL="0" indent="0" algn="l">
              <a:lnSpc>
                <a:spcPts val="1550"/>
              </a:lnSpc>
              <a:buNone/>
            </a:pPr>
            <a:r>
              <a:rPr lang="en-US" sz="1000" dirty="0">
                <a:solidFill>
                  <a:srgbClr val="FFE5E5"/>
                </a:solidFill>
                <a:latin typeface="DM Sans" pitchFamily="34" charset="0"/>
                <a:ea typeface="DM Sans" pitchFamily="34" charset="-122"/>
                <a:cs typeface="DM Sans" pitchFamily="34" charset="-120"/>
              </a:rPr>
              <a:t>Navigability relies on users being able to seamlessly tab through and exit interactive elements. The study revealed significant barriers in this fundamental interaction pattern.</a:t>
            </a:r>
            <a:endParaRPr lang="en-US" sz="1000" dirty="0"/>
          </a:p>
        </p:txBody>
      </p:sp>
      <p:sp>
        <p:nvSpPr>
          <p:cNvPr id="4" name="Shape 2"/>
          <p:cNvSpPr/>
          <p:nvPr/>
        </p:nvSpPr>
        <p:spPr>
          <a:xfrm>
            <a:off x="451693" y="1958876"/>
            <a:ext cx="2664842" cy="1855887"/>
          </a:xfrm>
          <a:prstGeom prst="roundRect">
            <a:avLst>
              <a:gd name="adj" fmla="val 3695"/>
            </a:avLst>
          </a:prstGeom>
          <a:solidFill>
            <a:srgbClr val="0A0A0A">
              <a:alpha val="95000"/>
            </a:srgbClr>
          </a:solidFill>
          <a:ln w="14288">
            <a:solidFill>
              <a:srgbClr val="8D2424"/>
            </a:solidFill>
            <a:prstDash val="solid"/>
          </a:ln>
        </p:spPr>
      </p:sp>
      <p:sp>
        <p:nvSpPr>
          <p:cNvPr id="5" name="Shape 3"/>
          <p:cNvSpPr/>
          <p:nvPr/>
        </p:nvSpPr>
        <p:spPr>
          <a:xfrm>
            <a:off x="437406" y="1958876"/>
            <a:ext cx="57150" cy="1855887"/>
          </a:xfrm>
          <a:prstGeom prst="roundRect">
            <a:avLst>
              <a:gd name="adj" fmla="val 94852"/>
            </a:avLst>
          </a:prstGeom>
          <a:solidFill>
            <a:srgbClr val="C91313"/>
          </a:solidFill>
          <a:ln/>
        </p:spPr>
      </p:sp>
      <p:sp>
        <p:nvSpPr>
          <p:cNvPr id="6" name="Text 4"/>
          <p:cNvSpPr/>
          <p:nvPr/>
        </p:nvSpPr>
        <p:spPr>
          <a:xfrm>
            <a:off x="637877" y="2102197"/>
            <a:ext cx="1698203" cy="212229"/>
          </a:xfrm>
          <a:prstGeom prst="rect">
            <a:avLst/>
          </a:prstGeom>
          <a:noFill/>
          <a:ln/>
        </p:spPr>
        <p:txBody>
          <a:bodyPr wrap="none" lIns="0" tIns="0" rIns="0" bIns="0" rtlCol="0" anchor="t"/>
          <a:lstStyle/>
          <a:p>
            <a:pPr marL="0" indent="0" algn="l">
              <a:lnSpc>
                <a:spcPts val="1650"/>
              </a:lnSpc>
              <a:buNone/>
            </a:pPr>
            <a:r>
              <a:rPr lang="en-US" sz="1300" dirty="0">
                <a:solidFill>
                  <a:srgbClr val="FFE5E5"/>
                </a:solidFill>
                <a:latin typeface="Dela Gothic One" pitchFamily="34" charset="0"/>
                <a:ea typeface="Dela Gothic One" pitchFamily="34" charset="-122"/>
                <a:cs typeface="Dela Gothic One" pitchFamily="34" charset="-120"/>
              </a:rPr>
              <a:t>Button Failures</a:t>
            </a:r>
            <a:endParaRPr lang="en-US" sz="1300" dirty="0"/>
          </a:p>
        </p:txBody>
      </p:sp>
      <p:sp>
        <p:nvSpPr>
          <p:cNvPr id="7" name="Text 5"/>
          <p:cNvSpPr/>
          <p:nvPr/>
        </p:nvSpPr>
        <p:spPr>
          <a:xfrm>
            <a:off x="637877" y="2388171"/>
            <a:ext cx="2335337" cy="1007938"/>
          </a:xfrm>
          <a:prstGeom prst="rect">
            <a:avLst/>
          </a:prstGeom>
          <a:noFill/>
          <a:ln/>
        </p:spPr>
        <p:txBody>
          <a:bodyPr wrap="square" lIns="0" tIns="0" rIns="0" bIns="0" rtlCol="0" anchor="t"/>
          <a:lstStyle/>
          <a:p>
            <a:pPr marL="0" indent="0" algn="l">
              <a:lnSpc>
                <a:spcPts val="1550"/>
              </a:lnSpc>
              <a:buNone/>
            </a:pPr>
            <a:r>
              <a:rPr lang="en-US" sz="1000" b="1" dirty="0">
                <a:solidFill>
                  <a:srgbClr val="C91313"/>
                </a:solidFill>
                <a:latin typeface="DM Sans" pitchFamily="34" charset="0"/>
                <a:ea typeface="DM Sans" pitchFamily="34" charset="-122"/>
                <a:cs typeface="DM Sans" pitchFamily="34" charset="-120"/>
              </a:rPr>
              <a:t>30.6%</a:t>
            </a:r>
            <a:r>
              <a:rPr lang="en-US" sz="1000" dirty="0">
                <a:solidFill>
                  <a:srgbClr val="FFE5E5"/>
                </a:solidFill>
                <a:latin typeface="DM Sans" pitchFamily="34" charset="0"/>
                <a:ea typeface="DM Sans" pitchFamily="34" charset="-122"/>
                <a:cs typeface="DM Sans" pitchFamily="34" charset="-120"/>
              </a:rPr>
              <a:t> of ads contain buttons with missing text labels. A user trying to close a pop-up might just hear the word "button" without knowing if it closes the ad or triggers navigation.</a:t>
            </a:r>
            <a:endParaRPr lang="en-US" sz="1000" dirty="0"/>
          </a:p>
        </p:txBody>
      </p:sp>
      <p:sp>
        <p:nvSpPr>
          <p:cNvPr id="8" name="Shape 6"/>
          <p:cNvSpPr/>
          <p:nvPr/>
        </p:nvSpPr>
        <p:spPr>
          <a:xfrm>
            <a:off x="3239542" y="1958876"/>
            <a:ext cx="2664842" cy="1855887"/>
          </a:xfrm>
          <a:prstGeom prst="roundRect">
            <a:avLst>
              <a:gd name="adj" fmla="val 3695"/>
            </a:avLst>
          </a:prstGeom>
          <a:solidFill>
            <a:srgbClr val="0A0A0A">
              <a:alpha val="95000"/>
            </a:srgbClr>
          </a:solidFill>
          <a:ln w="14288">
            <a:solidFill>
              <a:srgbClr val="8D2424"/>
            </a:solidFill>
            <a:prstDash val="solid"/>
          </a:ln>
        </p:spPr>
      </p:sp>
      <p:sp>
        <p:nvSpPr>
          <p:cNvPr id="9" name="Shape 7"/>
          <p:cNvSpPr/>
          <p:nvPr/>
        </p:nvSpPr>
        <p:spPr>
          <a:xfrm>
            <a:off x="3225254" y="1958876"/>
            <a:ext cx="57150" cy="1855887"/>
          </a:xfrm>
          <a:prstGeom prst="roundRect">
            <a:avLst>
              <a:gd name="adj" fmla="val 94852"/>
            </a:avLst>
          </a:prstGeom>
          <a:solidFill>
            <a:srgbClr val="C91313"/>
          </a:solidFill>
          <a:ln/>
        </p:spPr>
      </p:sp>
      <p:sp>
        <p:nvSpPr>
          <p:cNvPr id="10" name="Text 8"/>
          <p:cNvSpPr/>
          <p:nvPr/>
        </p:nvSpPr>
        <p:spPr>
          <a:xfrm>
            <a:off x="3425726" y="2102197"/>
            <a:ext cx="2111722" cy="212229"/>
          </a:xfrm>
          <a:prstGeom prst="rect">
            <a:avLst/>
          </a:prstGeom>
          <a:noFill/>
          <a:ln/>
        </p:spPr>
        <p:txBody>
          <a:bodyPr wrap="none" lIns="0" tIns="0" rIns="0" bIns="0" rtlCol="0" anchor="t"/>
          <a:lstStyle/>
          <a:p>
            <a:pPr marL="0" indent="0" algn="l">
              <a:lnSpc>
                <a:spcPts val="1650"/>
              </a:lnSpc>
              <a:buNone/>
            </a:pPr>
            <a:r>
              <a:rPr lang="en-US" sz="1300" dirty="0">
                <a:solidFill>
                  <a:srgbClr val="FFE5E5"/>
                </a:solidFill>
                <a:latin typeface="Dela Gothic One" pitchFamily="34" charset="0"/>
                <a:ea typeface="Dela Gothic One" pitchFamily="34" charset="-122"/>
                <a:cs typeface="Dela Gothic One" pitchFamily="34" charset="-120"/>
              </a:rPr>
              <a:t>Interactive Overload</a:t>
            </a:r>
            <a:endParaRPr lang="en-US" sz="1300" dirty="0"/>
          </a:p>
        </p:txBody>
      </p:sp>
      <p:sp>
        <p:nvSpPr>
          <p:cNvPr id="11" name="Text 9"/>
          <p:cNvSpPr/>
          <p:nvPr/>
        </p:nvSpPr>
        <p:spPr>
          <a:xfrm>
            <a:off x="3425726" y="2388171"/>
            <a:ext cx="2335337" cy="1007938"/>
          </a:xfrm>
          <a:prstGeom prst="rect">
            <a:avLst/>
          </a:prstGeom>
          <a:noFill/>
          <a:ln/>
        </p:spPr>
        <p:txBody>
          <a:bodyPr wrap="square" lIns="0" tIns="0" rIns="0" bIns="0" rtlCol="0" anchor="t"/>
          <a:lstStyle/>
          <a:p>
            <a:pPr marL="0" indent="0" algn="l">
              <a:lnSpc>
                <a:spcPts val="1550"/>
              </a:lnSpc>
              <a:buNone/>
            </a:pPr>
            <a:r>
              <a:rPr lang="en-US" sz="1000" dirty="0">
                <a:solidFill>
                  <a:srgbClr val="FFE5E5"/>
                </a:solidFill>
                <a:latin typeface="DM Sans" pitchFamily="34" charset="0"/>
                <a:ea typeface="DM Sans" pitchFamily="34" charset="-122"/>
                <a:cs typeface="DM Sans" pitchFamily="34" charset="-120"/>
              </a:rPr>
              <a:t>While the average ad contains 5.4 focusable elements, </a:t>
            </a:r>
            <a:r>
              <a:rPr lang="en-US" sz="1000" b="1" dirty="0">
                <a:solidFill>
                  <a:srgbClr val="C91313"/>
                </a:solidFill>
                <a:latin typeface="DM Sans" pitchFamily="34" charset="0"/>
                <a:ea typeface="DM Sans" pitchFamily="34" charset="-122"/>
                <a:cs typeface="DM Sans" pitchFamily="34" charset="-120"/>
              </a:rPr>
              <a:t>2.5%</a:t>
            </a:r>
            <a:r>
              <a:rPr lang="en-US" sz="1000" dirty="0">
                <a:solidFill>
                  <a:srgbClr val="FFE5E5"/>
                </a:solidFill>
                <a:latin typeface="DM Sans" pitchFamily="34" charset="0"/>
                <a:ea typeface="DM Sans" pitchFamily="34" charset="-122"/>
                <a:cs typeface="DM Sans" pitchFamily="34" charset="-120"/>
              </a:rPr>
              <a:t> of ads contained 15 or more interactive elements, creating exhausting navigation experiences.</a:t>
            </a:r>
            <a:endParaRPr lang="en-US" sz="1000" dirty="0"/>
          </a:p>
        </p:txBody>
      </p:sp>
      <p:sp>
        <p:nvSpPr>
          <p:cNvPr id="12" name="Shape 10"/>
          <p:cNvSpPr/>
          <p:nvPr/>
        </p:nvSpPr>
        <p:spPr>
          <a:xfrm>
            <a:off x="6027390" y="1958876"/>
            <a:ext cx="2664916" cy="1855887"/>
          </a:xfrm>
          <a:prstGeom prst="roundRect">
            <a:avLst>
              <a:gd name="adj" fmla="val 3695"/>
            </a:avLst>
          </a:prstGeom>
          <a:solidFill>
            <a:srgbClr val="0A0A0A">
              <a:alpha val="95000"/>
            </a:srgbClr>
          </a:solidFill>
          <a:ln w="14288">
            <a:solidFill>
              <a:srgbClr val="8D2424"/>
            </a:solidFill>
            <a:prstDash val="solid"/>
          </a:ln>
        </p:spPr>
      </p:sp>
      <p:sp>
        <p:nvSpPr>
          <p:cNvPr id="13" name="Shape 11"/>
          <p:cNvSpPr/>
          <p:nvPr/>
        </p:nvSpPr>
        <p:spPr>
          <a:xfrm>
            <a:off x="6013103" y="1958876"/>
            <a:ext cx="57150" cy="1855887"/>
          </a:xfrm>
          <a:prstGeom prst="roundRect">
            <a:avLst>
              <a:gd name="adj" fmla="val 94852"/>
            </a:avLst>
          </a:prstGeom>
          <a:solidFill>
            <a:srgbClr val="C91313"/>
          </a:solidFill>
          <a:ln/>
        </p:spPr>
      </p:sp>
      <p:sp>
        <p:nvSpPr>
          <p:cNvPr id="14" name="Text 12"/>
          <p:cNvSpPr/>
          <p:nvPr/>
        </p:nvSpPr>
        <p:spPr>
          <a:xfrm>
            <a:off x="6213574" y="2102197"/>
            <a:ext cx="2077641" cy="212229"/>
          </a:xfrm>
          <a:prstGeom prst="rect">
            <a:avLst/>
          </a:prstGeom>
          <a:noFill/>
          <a:ln/>
        </p:spPr>
        <p:txBody>
          <a:bodyPr wrap="none" lIns="0" tIns="0" rIns="0" bIns="0" rtlCol="0" anchor="t"/>
          <a:lstStyle/>
          <a:p>
            <a:pPr marL="0" indent="0" algn="l">
              <a:lnSpc>
                <a:spcPts val="1650"/>
              </a:lnSpc>
              <a:buNone/>
            </a:pPr>
            <a:r>
              <a:rPr lang="en-US" sz="1300" dirty="0">
                <a:solidFill>
                  <a:srgbClr val="FFE5E5"/>
                </a:solidFill>
                <a:latin typeface="Dela Gothic One" pitchFamily="34" charset="0"/>
                <a:ea typeface="Dela Gothic One" pitchFamily="34" charset="-122"/>
                <a:cs typeface="Dela Gothic One" pitchFamily="34" charset="-120"/>
              </a:rPr>
              <a:t>Extreme Case Study</a:t>
            </a:r>
            <a:endParaRPr lang="en-US" sz="1300" dirty="0"/>
          </a:p>
        </p:txBody>
      </p:sp>
      <p:sp>
        <p:nvSpPr>
          <p:cNvPr id="15" name="Text 13"/>
          <p:cNvSpPr/>
          <p:nvPr/>
        </p:nvSpPr>
        <p:spPr>
          <a:xfrm>
            <a:off x="6213574" y="2388171"/>
            <a:ext cx="2335411" cy="1007938"/>
          </a:xfrm>
          <a:prstGeom prst="rect">
            <a:avLst/>
          </a:prstGeom>
          <a:noFill/>
          <a:ln/>
        </p:spPr>
        <p:txBody>
          <a:bodyPr wrap="square" lIns="0" tIns="0" rIns="0" bIns="0" rtlCol="0" anchor="t"/>
          <a:lstStyle/>
          <a:p>
            <a:pPr marL="0" indent="0" algn="l">
              <a:lnSpc>
                <a:spcPts val="1550"/>
              </a:lnSpc>
              <a:buNone/>
            </a:pPr>
            <a:r>
              <a:rPr lang="en-US" sz="1000" dirty="0">
                <a:solidFill>
                  <a:srgbClr val="FFE5E5"/>
                </a:solidFill>
                <a:latin typeface="DM Sans" pitchFamily="34" charset="0"/>
                <a:ea typeface="DM Sans" pitchFamily="34" charset="-122"/>
                <a:cs typeface="DM Sans" pitchFamily="34" charset="-120"/>
              </a:rPr>
              <a:t>One ad featuring a grid of shoes forced users to tab through </a:t>
            </a:r>
            <a:r>
              <a:rPr lang="en-US" sz="1000" b="1" dirty="0">
                <a:solidFill>
                  <a:srgbClr val="C91313"/>
                </a:solidFill>
                <a:latin typeface="DM Sans" pitchFamily="34" charset="0"/>
                <a:ea typeface="DM Sans" pitchFamily="34" charset="-122"/>
                <a:cs typeface="DM Sans" pitchFamily="34" charset="-120"/>
              </a:rPr>
              <a:t>27 unlabeled links</a:t>
            </a:r>
            <a:r>
              <a:rPr lang="en-US" sz="1000" dirty="0">
                <a:solidFill>
                  <a:srgbClr val="FFE5E5"/>
                </a:solidFill>
                <a:latin typeface="DM Sans" pitchFamily="34" charset="0"/>
                <a:ea typeface="DM Sans" pitchFamily="34" charset="-122"/>
                <a:cs typeface="DM Sans" pitchFamily="34" charset="-120"/>
              </a:rPr>
              <a:t> just to bypass the advertisement—a violation of basic navigability principles.</a:t>
            </a:r>
            <a:endParaRPr lang="en-US" sz="1000" dirty="0"/>
          </a:p>
        </p:txBody>
      </p:sp>
      <p:sp>
        <p:nvSpPr>
          <p:cNvPr id="16" name="Text 14"/>
          <p:cNvSpPr/>
          <p:nvPr/>
        </p:nvSpPr>
        <p:spPr>
          <a:xfrm>
            <a:off x="6213574" y="3469853"/>
            <a:ext cx="2335411" cy="201588"/>
          </a:xfrm>
          <a:prstGeom prst="rect">
            <a:avLst/>
          </a:prstGeom>
          <a:noFill/>
          <a:ln/>
        </p:spPr>
        <p:txBody>
          <a:bodyPr wrap="none" lIns="0" tIns="0" rIns="0" bIns="0" rtlCol="0" anchor="t"/>
          <a:lstStyle/>
          <a:p>
            <a:pPr marL="0" indent="0" algn="l">
              <a:lnSpc>
                <a:spcPts val="1550"/>
              </a:lnSpc>
              <a:buNone/>
            </a:pPr>
            <a:endParaRPr lang="en-US" sz="1000" dirty="0"/>
          </a:p>
        </p:txBody>
      </p:sp>
      <p:pic>
        <p:nvPicPr>
          <p:cNvPr id="17" name="Image 0" descr="preencoded.png"/>
          <p:cNvPicPr>
            <a:picLocks noChangeAspect="1"/>
          </p:cNvPicPr>
          <p:nvPr/>
        </p:nvPicPr>
        <p:blipFill>
          <a:blip r:embed="rId3"/>
          <a:stretch>
            <a:fillRect/>
          </a:stretch>
        </p:blipFill>
        <p:spPr>
          <a:xfrm>
            <a:off x="451692" y="3953098"/>
            <a:ext cx="2856419" cy="1115702"/>
          </a:xfrm>
          <a:prstGeom prst="rect">
            <a:avLst/>
          </a:prstGeom>
        </p:spPr>
      </p:pic>
    </p:spTree>
    <p:extLst>
      <p:ext uri="{BB962C8B-B14F-4D97-AF65-F5344CB8AC3E}">
        <p14:creationId xmlns:p14="http://schemas.microsoft.com/office/powerpoint/2010/main" val="2506701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6885" y="349746"/>
            <a:ext cx="8270230" cy="821234"/>
          </a:xfrm>
          <a:prstGeom prst="rect">
            <a:avLst/>
          </a:prstGeom>
          <a:noFill/>
          <a:ln/>
        </p:spPr>
        <p:txBody>
          <a:bodyPr wrap="square" lIns="0" tIns="0" rIns="0" bIns="0" rtlCol="0" anchor="t"/>
          <a:lstStyle/>
          <a:p>
            <a:pPr marL="0" indent="0" algn="l">
              <a:lnSpc>
                <a:spcPts val="3200"/>
              </a:lnSpc>
              <a:buNone/>
            </a:pPr>
            <a:r>
              <a:rPr lang="en-US" sz="2550" dirty="0">
                <a:solidFill>
                  <a:srgbClr val="FAEBEB"/>
                </a:solidFill>
                <a:latin typeface="Dela Gothic One" pitchFamily="34" charset="0"/>
                <a:ea typeface="Dela Gothic One" pitchFamily="34" charset="-122"/>
                <a:cs typeface="Dela Gothic One" pitchFamily="34" charset="-120"/>
              </a:rPr>
              <a:t>The Clickbait Paradox: Findings by Platform</a:t>
            </a:r>
            <a:endParaRPr lang="en-US" sz="2550" dirty="0"/>
          </a:p>
        </p:txBody>
      </p:sp>
      <p:sp>
        <p:nvSpPr>
          <p:cNvPr id="3" name="Text 1"/>
          <p:cNvSpPr/>
          <p:nvPr/>
        </p:nvSpPr>
        <p:spPr>
          <a:xfrm>
            <a:off x="436885" y="1401142"/>
            <a:ext cx="8270230" cy="383828"/>
          </a:xfrm>
          <a:prstGeom prst="rect">
            <a:avLst/>
          </a:prstGeom>
          <a:noFill/>
          <a:ln/>
        </p:spPr>
        <p:txBody>
          <a:bodyPr wrap="square" lIns="0" tIns="0" rIns="0" bIns="0" rtlCol="0" anchor="t"/>
          <a:lstStyle/>
          <a:p>
            <a:pPr marL="0" indent="0" algn="l">
              <a:lnSpc>
                <a:spcPts val="1500"/>
              </a:lnSpc>
              <a:buNone/>
            </a:pPr>
            <a:r>
              <a:rPr lang="en-US" sz="950" dirty="0">
                <a:solidFill>
                  <a:srgbClr val="FFE5E5"/>
                </a:solidFill>
                <a:latin typeface="DM Sans" pitchFamily="34" charset="0"/>
                <a:ea typeface="DM Sans" pitchFamily="34" charset="-122"/>
                <a:cs typeface="DM Sans" pitchFamily="34" charset="-120"/>
              </a:rPr>
              <a:t>Accessibility violations are not evenly distributed across the web ecosystem. The researchers discovered a striking paradox: clickbait ad networks exhibit significantly higher accessibility than premium platforms.</a:t>
            </a:r>
            <a:endParaRPr lang="en-US" sz="950" dirty="0"/>
          </a:p>
        </p:txBody>
      </p:sp>
      <p:sp>
        <p:nvSpPr>
          <p:cNvPr id="4" name="Text 2"/>
          <p:cNvSpPr/>
          <p:nvPr/>
        </p:nvSpPr>
        <p:spPr>
          <a:xfrm>
            <a:off x="436885" y="1914376"/>
            <a:ext cx="8270230" cy="191914"/>
          </a:xfrm>
          <a:prstGeom prst="rect">
            <a:avLst/>
          </a:prstGeom>
          <a:noFill/>
          <a:ln/>
        </p:spPr>
        <p:txBody>
          <a:bodyPr wrap="none" lIns="0" tIns="0" rIns="0" bIns="0" rtlCol="0" anchor="t"/>
          <a:lstStyle/>
          <a:p>
            <a:pPr marL="0" indent="0" algn="l">
              <a:lnSpc>
                <a:spcPts val="1500"/>
              </a:lnSpc>
              <a:buNone/>
            </a:pPr>
            <a:r>
              <a:rPr lang="en-US" sz="950" b="1" dirty="0">
                <a:solidFill>
                  <a:srgbClr val="C91313"/>
                </a:solidFill>
                <a:latin typeface="DM Sans" pitchFamily="34" charset="0"/>
                <a:ea typeface="DM Sans" pitchFamily="34" charset="-122"/>
                <a:cs typeface="DM Sans" pitchFamily="34" charset="-120"/>
              </a:rPr>
              <a:t>Taboola:</a:t>
            </a:r>
            <a:r>
              <a:rPr lang="en-US" sz="950" dirty="0">
                <a:solidFill>
                  <a:srgbClr val="FFE5E5"/>
                </a:solidFill>
                <a:latin typeface="DM Sans" pitchFamily="34" charset="0"/>
                <a:ea typeface="DM Sans" pitchFamily="34" charset="-122"/>
                <a:cs typeface="DM Sans" pitchFamily="34" charset="-120"/>
              </a:rPr>
              <a:t> 42.7% of ads showed zero inaccessible characteristics</a:t>
            </a:r>
            <a:endParaRPr lang="en-US" sz="950" dirty="0"/>
          </a:p>
        </p:txBody>
      </p:sp>
      <p:sp>
        <p:nvSpPr>
          <p:cNvPr id="5" name="Text 3"/>
          <p:cNvSpPr/>
          <p:nvPr/>
        </p:nvSpPr>
        <p:spPr>
          <a:xfrm>
            <a:off x="436885" y="2235696"/>
            <a:ext cx="8270230" cy="191914"/>
          </a:xfrm>
          <a:prstGeom prst="rect">
            <a:avLst/>
          </a:prstGeom>
          <a:noFill/>
          <a:ln/>
        </p:spPr>
        <p:txBody>
          <a:bodyPr wrap="none" lIns="0" tIns="0" rIns="0" bIns="0" rtlCol="0" anchor="t"/>
          <a:lstStyle/>
          <a:p>
            <a:pPr marL="0" indent="0" algn="l">
              <a:lnSpc>
                <a:spcPts val="1500"/>
              </a:lnSpc>
              <a:buNone/>
            </a:pPr>
            <a:r>
              <a:rPr lang="en-US" sz="950" b="1" dirty="0">
                <a:solidFill>
                  <a:srgbClr val="C91313"/>
                </a:solidFill>
                <a:latin typeface="DM Sans" pitchFamily="34" charset="0"/>
                <a:ea typeface="DM Sans" pitchFamily="34" charset="-122"/>
                <a:cs typeface="DM Sans" pitchFamily="34" charset="-120"/>
              </a:rPr>
              <a:t>Outbrain:</a:t>
            </a:r>
            <a:r>
              <a:rPr lang="en-US" sz="950" dirty="0">
                <a:solidFill>
                  <a:srgbClr val="FFE5E5"/>
                </a:solidFill>
                <a:latin typeface="DM Sans" pitchFamily="34" charset="0"/>
                <a:ea typeface="DM Sans" pitchFamily="34" charset="-122"/>
                <a:cs typeface="DM Sans" pitchFamily="34" charset="-120"/>
              </a:rPr>
              <a:t> 81.5% of ads showed zero inaccessible characteristics</a:t>
            </a:r>
            <a:endParaRPr lang="en-US" sz="950" dirty="0"/>
          </a:p>
        </p:txBody>
      </p:sp>
      <p:pic>
        <p:nvPicPr>
          <p:cNvPr id="6" name="Image 0" descr="preencoded.png"/>
          <p:cNvPicPr>
            <a:picLocks noChangeAspect="1"/>
          </p:cNvPicPr>
          <p:nvPr/>
        </p:nvPicPr>
        <p:blipFill>
          <a:blip r:embed="rId3"/>
          <a:stretch>
            <a:fillRect/>
          </a:stretch>
        </p:blipFill>
        <p:spPr>
          <a:xfrm>
            <a:off x="3626197" y="2557016"/>
            <a:ext cx="5080918" cy="1080790"/>
          </a:xfrm>
          <a:prstGeom prst="rect">
            <a:avLst/>
          </a:prstGeom>
        </p:spPr>
      </p:pic>
      <p:sp>
        <p:nvSpPr>
          <p:cNvPr id="7" name="Text 4"/>
          <p:cNvSpPr/>
          <p:nvPr/>
        </p:nvSpPr>
        <p:spPr>
          <a:xfrm>
            <a:off x="436885" y="3767212"/>
            <a:ext cx="8270230" cy="191914"/>
          </a:xfrm>
          <a:prstGeom prst="rect">
            <a:avLst/>
          </a:prstGeom>
          <a:noFill/>
          <a:ln/>
        </p:spPr>
        <p:txBody>
          <a:bodyPr wrap="none" lIns="0" tIns="0" rIns="0" bIns="0" rtlCol="0" anchor="t"/>
          <a:lstStyle/>
          <a:p>
            <a:pPr marL="0" indent="0" algn="l">
              <a:lnSpc>
                <a:spcPts val="1500"/>
              </a:lnSpc>
              <a:buNone/>
            </a:pPr>
            <a:r>
              <a:rPr lang="en-US" sz="950" b="1" dirty="0">
                <a:solidFill>
                  <a:srgbClr val="C91313"/>
                </a:solidFill>
                <a:latin typeface="DM Sans" pitchFamily="34" charset="0"/>
                <a:ea typeface="DM Sans" pitchFamily="34" charset="-122"/>
                <a:cs typeface="DM Sans" pitchFamily="34" charset="-120"/>
              </a:rPr>
              <a:t>Yahoo:</a:t>
            </a:r>
            <a:r>
              <a:rPr lang="en-US" sz="950" dirty="0">
                <a:solidFill>
                  <a:srgbClr val="FFE5E5"/>
                </a:solidFill>
                <a:latin typeface="DM Sans" pitchFamily="34" charset="0"/>
                <a:ea typeface="DM Sans" pitchFamily="34" charset="-122"/>
                <a:cs typeface="DM Sans" pitchFamily="34" charset="-120"/>
              </a:rPr>
              <a:t> 78.8% of ads showed zero inaccessible characteristics</a:t>
            </a:r>
            <a:endParaRPr lang="en-US" sz="950" dirty="0"/>
          </a:p>
        </p:txBody>
      </p:sp>
      <p:sp>
        <p:nvSpPr>
          <p:cNvPr id="8" name="Text 5"/>
          <p:cNvSpPr/>
          <p:nvPr/>
        </p:nvSpPr>
        <p:spPr>
          <a:xfrm>
            <a:off x="436885" y="4088532"/>
            <a:ext cx="8270230" cy="191914"/>
          </a:xfrm>
          <a:prstGeom prst="rect">
            <a:avLst/>
          </a:prstGeom>
          <a:noFill/>
          <a:ln/>
        </p:spPr>
        <p:txBody>
          <a:bodyPr wrap="none" lIns="0" tIns="0" rIns="0" bIns="0" rtlCol="0" anchor="t"/>
          <a:lstStyle/>
          <a:p>
            <a:pPr marL="0" indent="0" algn="l">
              <a:lnSpc>
                <a:spcPts val="1500"/>
              </a:lnSpc>
              <a:buNone/>
            </a:pPr>
            <a:r>
              <a:rPr lang="en-US" sz="950" b="1" dirty="0">
                <a:solidFill>
                  <a:srgbClr val="C91313"/>
                </a:solidFill>
                <a:latin typeface="DM Sans" pitchFamily="34" charset="0"/>
                <a:ea typeface="DM Sans" pitchFamily="34" charset="-122"/>
                <a:cs typeface="DM Sans" pitchFamily="34" charset="-120"/>
              </a:rPr>
              <a:t>Google:</a:t>
            </a:r>
            <a:r>
              <a:rPr lang="en-US" sz="950" dirty="0">
                <a:solidFill>
                  <a:srgbClr val="FFE5E5"/>
                </a:solidFill>
                <a:latin typeface="DM Sans" pitchFamily="34" charset="0"/>
                <a:ea typeface="DM Sans" pitchFamily="34" charset="-122"/>
                <a:cs typeface="DM Sans" pitchFamily="34" charset="-120"/>
              </a:rPr>
              <a:t> 67.4% of ads showed zero inaccessible characteristics</a:t>
            </a:r>
            <a:endParaRPr lang="en-US" sz="950" dirty="0"/>
          </a:p>
        </p:txBody>
      </p:sp>
      <p:sp>
        <p:nvSpPr>
          <p:cNvPr id="9" name="Text 6"/>
          <p:cNvSpPr/>
          <p:nvPr/>
        </p:nvSpPr>
        <p:spPr>
          <a:xfrm>
            <a:off x="436885" y="4409852"/>
            <a:ext cx="8270230" cy="383828"/>
          </a:xfrm>
          <a:prstGeom prst="rect">
            <a:avLst/>
          </a:prstGeom>
          <a:noFill/>
          <a:ln/>
        </p:spPr>
        <p:txBody>
          <a:bodyPr wrap="square" lIns="0" tIns="0" rIns="0" bIns="0" rtlCol="0" anchor="t"/>
          <a:lstStyle/>
          <a:p>
            <a:pPr marL="0" indent="0" algn="l">
              <a:lnSpc>
                <a:spcPts val="1500"/>
              </a:lnSpc>
              <a:buNone/>
            </a:pPr>
            <a:r>
              <a:rPr lang="en-US" sz="950" b="1" dirty="0">
                <a:solidFill>
                  <a:srgbClr val="FFE5E5"/>
                </a:solidFill>
                <a:latin typeface="DM Sans" pitchFamily="34" charset="0"/>
                <a:ea typeface="DM Sans" pitchFamily="34" charset="-122"/>
                <a:cs typeface="DM Sans" pitchFamily="34" charset="-120"/>
              </a:rPr>
              <a:t>Why?</a:t>
            </a:r>
            <a:r>
              <a:rPr lang="en-US" sz="950" dirty="0">
                <a:solidFill>
                  <a:srgbClr val="FFE5E5"/>
                </a:solidFill>
                <a:latin typeface="DM Sans" pitchFamily="34" charset="0"/>
                <a:ea typeface="DM Sans" pitchFamily="34" charset="-122"/>
                <a:cs typeface="DM Sans" pitchFamily="34" charset="-120"/>
              </a:rPr>
              <a:t> Clickbait networks rely on basic, standardized HTML templates with minimal custom styling. </a:t>
            </a:r>
            <a:r>
              <a:rPr lang="en-US" sz="950" b="1" dirty="0">
                <a:solidFill>
                  <a:srgbClr val="FFE5E5"/>
                </a:solidFill>
                <a:latin typeface="DM Sans" pitchFamily="34" charset="0"/>
                <a:ea typeface="DM Sans" pitchFamily="34" charset="-122"/>
                <a:cs typeface="DM Sans" pitchFamily="34" charset="-120"/>
              </a:rPr>
              <a:t>The Implication:</a:t>
            </a:r>
            <a:r>
              <a:rPr lang="en-US" sz="950" dirty="0">
                <a:solidFill>
                  <a:srgbClr val="FFE5E5"/>
                </a:solidFill>
                <a:latin typeface="DM Sans" pitchFamily="34" charset="0"/>
                <a:ea typeface="DM Sans" pitchFamily="34" charset="-122"/>
                <a:cs typeface="DM Sans" pitchFamily="34" charset="-120"/>
              </a:rPr>
              <a:t> Screen reader users' ad experiences skew toward low-quality, sensationalist content precisely because it's the only format their software can parse reliably.</a:t>
            </a:r>
            <a:endParaRPr lang="en-US" sz="950" dirty="0"/>
          </a:p>
        </p:txBody>
      </p:sp>
    </p:spTree>
    <p:extLst>
      <p:ext uri="{BB962C8B-B14F-4D97-AF65-F5344CB8AC3E}">
        <p14:creationId xmlns:p14="http://schemas.microsoft.com/office/powerpoint/2010/main" val="2061943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9542" y="324743"/>
            <a:ext cx="6684987" cy="368871"/>
          </a:xfrm>
          <a:prstGeom prst="rect">
            <a:avLst/>
          </a:prstGeom>
          <a:noFill/>
          <a:ln/>
        </p:spPr>
        <p:txBody>
          <a:bodyPr wrap="none" lIns="0" tIns="0" rIns="0" bIns="0" rtlCol="0" anchor="t"/>
          <a:lstStyle/>
          <a:p>
            <a:pPr marL="0" indent="0" algn="l">
              <a:lnSpc>
                <a:spcPts val="2900"/>
              </a:lnSpc>
              <a:buNone/>
            </a:pPr>
            <a:r>
              <a:rPr lang="en-US" sz="2300" dirty="0">
                <a:solidFill>
                  <a:srgbClr val="FAEBEB"/>
                </a:solidFill>
                <a:latin typeface="Dela Gothic One" pitchFamily="34" charset="0"/>
                <a:ea typeface="Dela Gothic One" pitchFamily="34" charset="-122"/>
                <a:cs typeface="Dela Gothic One" pitchFamily="34" charset="-120"/>
              </a:rPr>
              <a:t>Case Studies: Google &amp; Yahoo Failures</a:t>
            </a:r>
            <a:endParaRPr lang="en-US" sz="2300" dirty="0"/>
          </a:p>
        </p:txBody>
      </p:sp>
      <p:sp>
        <p:nvSpPr>
          <p:cNvPr id="3" name="Text 1"/>
          <p:cNvSpPr/>
          <p:nvPr/>
        </p:nvSpPr>
        <p:spPr>
          <a:xfrm>
            <a:off x="499542" y="879277"/>
            <a:ext cx="8144842" cy="163934"/>
          </a:xfrm>
          <a:prstGeom prst="rect">
            <a:avLst/>
          </a:prstGeom>
          <a:noFill/>
          <a:ln/>
        </p:spPr>
        <p:txBody>
          <a:bodyPr wrap="none" lIns="0" tIns="0" rIns="0" bIns="0" rtlCol="0" anchor="t"/>
          <a:lstStyle/>
          <a:p>
            <a:pPr marL="0" indent="0" algn="l">
              <a:lnSpc>
                <a:spcPts val="1250"/>
              </a:lnSpc>
              <a:buNone/>
            </a:pPr>
            <a:r>
              <a:rPr lang="en-US" sz="850" dirty="0">
                <a:solidFill>
                  <a:srgbClr val="FFE5E5"/>
                </a:solidFill>
                <a:latin typeface="DM Sans" pitchFamily="34" charset="0"/>
                <a:ea typeface="DM Sans" pitchFamily="34" charset="-122"/>
                <a:cs typeface="DM Sans" pitchFamily="34" charset="-120"/>
              </a:rPr>
              <a:t>Two major platforms demonstrate how well-intentioned features fail users with disabilities through implementation oversights.</a:t>
            </a:r>
            <a:endParaRPr lang="en-US" sz="850" dirty="0"/>
          </a:p>
        </p:txBody>
      </p:sp>
      <p:sp>
        <p:nvSpPr>
          <p:cNvPr id="4" name="Text 2"/>
          <p:cNvSpPr/>
          <p:nvPr/>
        </p:nvSpPr>
        <p:spPr>
          <a:xfrm>
            <a:off x="499542" y="1774924"/>
            <a:ext cx="3296394" cy="221233"/>
          </a:xfrm>
          <a:prstGeom prst="rect">
            <a:avLst/>
          </a:prstGeom>
          <a:noFill/>
          <a:ln/>
        </p:spPr>
        <p:txBody>
          <a:bodyPr wrap="none" lIns="0" tIns="0" rIns="0" bIns="0" rtlCol="0" anchor="t"/>
          <a:lstStyle/>
          <a:p>
            <a:pPr marL="0" indent="0" algn="l">
              <a:lnSpc>
                <a:spcPts val="1700"/>
              </a:lnSpc>
              <a:buNone/>
            </a:pPr>
            <a:r>
              <a:rPr lang="en-US" sz="1350" dirty="0">
                <a:solidFill>
                  <a:srgbClr val="FAEBEB"/>
                </a:solidFill>
                <a:latin typeface="Dela Gothic One" pitchFamily="34" charset="0"/>
                <a:ea typeface="Dela Gothic One" pitchFamily="34" charset="-122"/>
                <a:cs typeface="Dela Gothic One" pitchFamily="34" charset="-120"/>
              </a:rPr>
              <a:t>Google's "Why This Ad?" Button</a:t>
            </a:r>
            <a:endParaRPr lang="en-US" sz="1350" dirty="0"/>
          </a:p>
        </p:txBody>
      </p:sp>
      <p:pic>
        <p:nvPicPr>
          <p:cNvPr id="5" name="Image 0" descr="preencoded.png"/>
          <p:cNvPicPr>
            <a:picLocks noChangeAspect="1"/>
          </p:cNvPicPr>
          <p:nvPr/>
        </p:nvPicPr>
        <p:blipFill>
          <a:blip r:embed="rId3"/>
          <a:stretch>
            <a:fillRect/>
          </a:stretch>
        </p:blipFill>
        <p:spPr>
          <a:xfrm>
            <a:off x="499542" y="2100560"/>
            <a:ext cx="2852663" cy="1339974"/>
          </a:xfrm>
          <a:prstGeom prst="rect">
            <a:avLst/>
          </a:prstGeom>
        </p:spPr>
      </p:pic>
      <p:sp>
        <p:nvSpPr>
          <p:cNvPr id="6" name="Text 3"/>
          <p:cNvSpPr/>
          <p:nvPr/>
        </p:nvSpPr>
        <p:spPr>
          <a:xfrm>
            <a:off x="499542" y="3544937"/>
            <a:ext cx="3935611" cy="655737"/>
          </a:xfrm>
          <a:prstGeom prst="rect">
            <a:avLst/>
          </a:prstGeom>
          <a:noFill/>
          <a:ln/>
        </p:spPr>
        <p:txBody>
          <a:bodyPr wrap="square" lIns="0" tIns="0" rIns="0" bIns="0" rtlCol="0" anchor="t"/>
          <a:lstStyle/>
          <a:p>
            <a:pPr marL="0" indent="0" algn="l">
              <a:lnSpc>
                <a:spcPts val="1250"/>
              </a:lnSpc>
              <a:buNone/>
            </a:pPr>
            <a:r>
              <a:rPr lang="en-US" sz="850" dirty="0">
                <a:solidFill>
                  <a:srgbClr val="FFE5E5"/>
                </a:solidFill>
                <a:latin typeface="DM Sans" pitchFamily="34" charset="0"/>
                <a:ea typeface="DM Sans" pitchFamily="34" charset="-122"/>
                <a:cs typeface="DM Sans" pitchFamily="34" charset="-120"/>
              </a:rPr>
              <a:t>Google's transparency feature ironically fails accessibility: </a:t>
            </a:r>
            <a:r>
              <a:rPr lang="en-US" sz="850" b="1" dirty="0">
                <a:solidFill>
                  <a:srgbClr val="C91313"/>
                </a:solidFill>
                <a:latin typeface="DM Sans" pitchFamily="34" charset="0"/>
                <a:ea typeface="DM Sans" pitchFamily="34" charset="-122"/>
                <a:cs typeface="DM Sans" pitchFamily="34" charset="-120"/>
              </a:rPr>
              <a:t>73.8% of the time</a:t>
            </a:r>
            <a:r>
              <a:rPr lang="en-US" sz="850" dirty="0">
                <a:solidFill>
                  <a:srgbClr val="FFE5E5"/>
                </a:solidFill>
                <a:latin typeface="DM Sans" pitchFamily="34" charset="0"/>
                <a:ea typeface="DM Sans" pitchFamily="34" charset="-122"/>
                <a:cs typeface="DM Sans" pitchFamily="34" charset="-120"/>
              </a:rPr>
              <a:t>, the button lacks any text content for screen readers. The feature designed to explain ad targeting becomes completely invisible to blind users.</a:t>
            </a:r>
            <a:endParaRPr lang="en-US" sz="850" dirty="0"/>
          </a:p>
        </p:txBody>
      </p:sp>
      <p:sp>
        <p:nvSpPr>
          <p:cNvPr id="7" name="Text 4"/>
          <p:cNvSpPr/>
          <p:nvPr/>
        </p:nvSpPr>
        <p:spPr>
          <a:xfrm>
            <a:off x="4713461" y="1240408"/>
            <a:ext cx="2420838" cy="221233"/>
          </a:xfrm>
          <a:prstGeom prst="rect">
            <a:avLst/>
          </a:prstGeom>
          <a:noFill/>
          <a:ln/>
        </p:spPr>
        <p:txBody>
          <a:bodyPr wrap="none" lIns="0" tIns="0" rIns="0" bIns="0" rtlCol="0" anchor="t"/>
          <a:lstStyle/>
          <a:p>
            <a:pPr marL="0" indent="0" algn="l">
              <a:lnSpc>
                <a:spcPts val="1700"/>
              </a:lnSpc>
              <a:buNone/>
            </a:pPr>
            <a:r>
              <a:rPr lang="en-US" sz="1350" dirty="0">
                <a:solidFill>
                  <a:srgbClr val="FAEBEB"/>
                </a:solidFill>
                <a:latin typeface="Dela Gothic One" pitchFamily="34" charset="0"/>
                <a:ea typeface="Dela Gothic One" pitchFamily="34" charset="-122"/>
                <a:cs typeface="Dela Gothic One" pitchFamily="34" charset="-120"/>
              </a:rPr>
              <a:t>Yahoo's Invisible Links</a:t>
            </a:r>
            <a:endParaRPr lang="en-US" sz="1350" dirty="0"/>
          </a:p>
        </p:txBody>
      </p:sp>
      <p:pic>
        <p:nvPicPr>
          <p:cNvPr id="8" name="Image 1" descr="preencoded.png"/>
          <p:cNvPicPr>
            <a:picLocks noChangeAspect="1"/>
          </p:cNvPicPr>
          <p:nvPr/>
        </p:nvPicPr>
        <p:blipFill>
          <a:blip r:embed="rId4"/>
          <a:stretch>
            <a:fillRect/>
          </a:stretch>
        </p:blipFill>
        <p:spPr>
          <a:xfrm>
            <a:off x="4713461" y="1566044"/>
            <a:ext cx="3935611" cy="2404244"/>
          </a:xfrm>
          <a:prstGeom prst="rect">
            <a:avLst/>
          </a:prstGeom>
        </p:spPr>
      </p:pic>
      <p:sp>
        <p:nvSpPr>
          <p:cNvPr id="9" name="Text 5"/>
          <p:cNvSpPr/>
          <p:nvPr/>
        </p:nvSpPr>
        <p:spPr>
          <a:xfrm>
            <a:off x="4713461" y="4074691"/>
            <a:ext cx="3935611" cy="660499"/>
          </a:xfrm>
          <a:prstGeom prst="rect">
            <a:avLst/>
          </a:prstGeom>
          <a:noFill/>
          <a:ln/>
        </p:spPr>
        <p:txBody>
          <a:bodyPr wrap="square" lIns="0" tIns="0" rIns="0" bIns="0" rtlCol="0" anchor="t"/>
          <a:lstStyle/>
          <a:p>
            <a:pPr marL="0" indent="0" algn="l">
              <a:lnSpc>
                <a:spcPts val="1250"/>
              </a:lnSpc>
              <a:buNone/>
            </a:pPr>
            <a:r>
              <a:rPr lang="en-US" sz="850" dirty="0">
                <a:solidFill>
                  <a:srgbClr val="FFE5E5"/>
                </a:solidFill>
                <a:latin typeface="DM Sans" pitchFamily="34" charset="0"/>
                <a:ea typeface="DM Sans" pitchFamily="34" charset="-122"/>
                <a:cs typeface="DM Sans" pitchFamily="34" charset="-120"/>
              </a:rPr>
              <a:t>Yahoo delivered ads with visually hidden links implemented as </a:t>
            </a:r>
            <a:r>
              <a:rPr lang="en-US" sz="850" dirty="0">
                <a:solidFill>
                  <a:srgbClr val="FFE5E5"/>
                </a:solidFill>
                <a:highlight>
                  <a:srgbClr val="171717"/>
                </a:highlight>
                <a:latin typeface="Consolas" pitchFamily="34" charset="0"/>
                <a:ea typeface="Consolas" pitchFamily="34" charset="-122"/>
                <a:cs typeface="Consolas" pitchFamily="34" charset="-120"/>
              </a:rPr>
              <a:t>&lt;div&gt;</a:t>
            </a:r>
            <a:r>
              <a:rPr lang="en-US" sz="850" dirty="0">
                <a:solidFill>
                  <a:srgbClr val="FFE5E5"/>
                </a:solidFill>
                <a:latin typeface="DM Sans" pitchFamily="34" charset="0"/>
                <a:ea typeface="DM Sans" pitchFamily="34" charset="-122"/>
                <a:cs typeface="DM Sans" pitchFamily="34" charset="-120"/>
              </a:rPr>
              <a:t> elements styled with CSS to have zero height and width. While invisible to sighted users, screen readers still announce these unlabeled links, creating confusing navigation obstacles.</a:t>
            </a:r>
            <a:endParaRPr lang="en-US" sz="850" dirty="0"/>
          </a:p>
        </p:txBody>
      </p:sp>
    </p:spTree>
    <p:extLst>
      <p:ext uri="{BB962C8B-B14F-4D97-AF65-F5344CB8AC3E}">
        <p14:creationId xmlns:p14="http://schemas.microsoft.com/office/powerpoint/2010/main" val="4293929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717798"/>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Case Study: Semantic HTML Failures (Criteo)</a:t>
            </a:r>
            <a:endParaRPr lang="en-US" sz="2800" dirty="0"/>
          </a:p>
        </p:txBody>
      </p:sp>
      <p:sp>
        <p:nvSpPr>
          <p:cNvPr id="3" name="Text 1"/>
          <p:cNvSpPr/>
          <p:nvPr/>
        </p:nvSpPr>
        <p:spPr>
          <a:xfrm>
            <a:off x="473943" y="1961778"/>
            <a:ext cx="3721298"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The Implementation Problem</a:t>
            </a:r>
            <a:endParaRPr lang="en-US" sz="1650" dirty="0"/>
          </a:p>
        </p:txBody>
      </p:sp>
      <p:sp>
        <p:nvSpPr>
          <p:cNvPr id="4" name="Text 2"/>
          <p:cNvSpPr/>
          <p:nvPr/>
        </p:nvSpPr>
        <p:spPr>
          <a:xfrm>
            <a:off x="473943" y="2364358"/>
            <a:ext cx="4785494" cy="654844"/>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Criteo consistently delivered ads with empty alt-text and missing link text. The root cause: developers implemented "Privacy" and "Close" buttons using standard </a:t>
            </a:r>
            <a:r>
              <a:rPr lang="en-US" sz="1050" dirty="0">
                <a:solidFill>
                  <a:srgbClr val="FFE5E5"/>
                </a:solidFill>
                <a:highlight>
                  <a:srgbClr val="171717"/>
                </a:highlight>
                <a:latin typeface="Consolas" pitchFamily="34" charset="0"/>
                <a:ea typeface="Consolas" pitchFamily="34" charset="-122"/>
                <a:cs typeface="Consolas" pitchFamily="34" charset="-120"/>
              </a:rPr>
              <a:t>&lt;div&gt;</a:t>
            </a:r>
            <a:r>
              <a:rPr lang="en-US" sz="1050" dirty="0">
                <a:solidFill>
                  <a:srgbClr val="FFE5E5"/>
                </a:solidFill>
                <a:latin typeface="DM Sans" pitchFamily="34" charset="0"/>
                <a:ea typeface="DM Sans" pitchFamily="34" charset="-122"/>
                <a:cs typeface="DM Sans" pitchFamily="34" charset="-120"/>
              </a:rPr>
              <a:t> tags styled with CSS, rather than proper </a:t>
            </a:r>
            <a:r>
              <a:rPr lang="en-US" sz="1050" dirty="0">
                <a:solidFill>
                  <a:srgbClr val="FFE5E5"/>
                </a:solidFill>
                <a:highlight>
                  <a:srgbClr val="171717"/>
                </a:highlight>
                <a:latin typeface="Consolas" pitchFamily="34" charset="0"/>
                <a:ea typeface="Consolas" pitchFamily="34" charset="-122"/>
                <a:cs typeface="Consolas" pitchFamily="34" charset="-120"/>
              </a:rPr>
              <a:t>&lt;button&gt;</a:t>
            </a:r>
            <a:r>
              <a:rPr lang="en-US" sz="1050" dirty="0">
                <a:solidFill>
                  <a:srgbClr val="FFE5E5"/>
                </a:solidFill>
                <a:latin typeface="DM Sans" pitchFamily="34" charset="0"/>
                <a:ea typeface="DM Sans" pitchFamily="34" charset="-122"/>
                <a:cs typeface="DM Sans" pitchFamily="34" charset="-120"/>
              </a:rPr>
              <a:t> elements.</a:t>
            </a:r>
            <a:endParaRPr lang="en-US" sz="1050" dirty="0"/>
          </a:p>
        </p:txBody>
      </p:sp>
      <p:sp>
        <p:nvSpPr>
          <p:cNvPr id="5" name="Text 3"/>
          <p:cNvSpPr/>
          <p:nvPr/>
        </p:nvSpPr>
        <p:spPr>
          <a:xfrm>
            <a:off x="473943" y="3154561"/>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AEBEB"/>
                </a:solidFill>
                <a:latin typeface="Dela Gothic One" pitchFamily="34" charset="0"/>
                <a:ea typeface="Dela Gothic One" pitchFamily="34" charset="-122"/>
                <a:cs typeface="Dela Gothic One" pitchFamily="34" charset="-120"/>
              </a:rPr>
              <a:t>The Impact</a:t>
            </a:r>
            <a:endParaRPr lang="en-US" sz="1400" dirty="0"/>
          </a:p>
        </p:txBody>
      </p:sp>
      <p:sp>
        <p:nvSpPr>
          <p:cNvPr id="6" name="Text 4"/>
          <p:cNvSpPr/>
          <p:nvPr/>
        </p:nvSpPr>
        <p:spPr>
          <a:xfrm>
            <a:off x="473943" y="3512567"/>
            <a:ext cx="4785494" cy="221456"/>
          </a:xfrm>
          <a:prstGeom prst="rect">
            <a:avLst/>
          </a:prstGeom>
          <a:noFill/>
          <a:ln/>
        </p:spPr>
        <p:txBody>
          <a:bodyPr wrap="none" lIns="0" tIns="0" rIns="0" bIns="0" rtlCol="0" anchor="t"/>
          <a:lstStyle/>
          <a:p>
            <a:pPr marL="0" indent="0" algn="l">
              <a:lnSpc>
                <a:spcPts val="1700"/>
              </a:lnSpc>
              <a:buNone/>
            </a:pPr>
            <a:r>
              <a:rPr lang="en-US" sz="1050" b="1" dirty="0">
                <a:solidFill>
                  <a:srgbClr val="C91313"/>
                </a:solidFill>
                <a:latin typeface="DM Sans" pitchFamily="34" charset="0"/>
                <a:ea typeface="DM Sans" pitchFamily="34" charset="-122"/>
                <a:cs typeface="DM Sans" pitchFamily="34" charset="-120"/>
              </a:rPr>
              <a:t>Keyboard focus:</a:t>
            </a:r>
            <a:r>
              <a:rPr lang="en-US" sz="1050" dirty="0">
                <a:solidFill>
                  <a:srgbClr val="FFE5E5"/>
                </a:solidFill>
                <a:latin typeface="DM Sans" pitchFamily="34" charset="0"/>
                <a:ea typeface="DM Sans" pitchFamily="34" charset="-122"/>
                <a:cs typeface="DM Sans" pitchFamily="34" charset="-120"/>
              </a:rPr>
              <a:t> </a:t>
            </a:r>
            <a:r>
              <a:rPr lang="en-US" sz="1050" dirty="0">
                <a:solidFill>
                  <a:srgbClr val="FFE5E5"/>
                </a:solidFill>
                <a:highlight>
                  <a:srgbClr val="171717"/>
                </a:highlight>
                <a:latin typeface="Consolas" pitchFamily="34" charset="0"/>
                <a:ea typeface="Consolas" pitchFamily="34" charset="-122"/>
                <a:cs typeface="Consolas" pitchFamily="34" charset="-120"/>
              </a:rPr>
              <a:t>&lt;div&gt;</a:t>
            </a:r>
            <a:r>
              <a:rPr lang="en-US" sz="1050" dirty="0">
                <a:solidFill>
                  <a:srgbClr val="FFE5E5"/>
                </a:solidFill>
                <a:latin typeface="DM Sans" pitchFamily="34" charset="0"/>
                <a:ea typeface="DM Sans" pitchFamily="34" charset="-122"/>
                <a:cs typeface="DM Sans" pitchFamily="34" charset="-120"/>
              </a:rPr>
              <a:t> tags do not receive keyboard focus by default</a:t>
            </a:r>
            <a:endParaRPr lang="en-US" sz="1050" dirty="0"/>
          </a:p>
        </p:txBody>
      </p:sp>
      <p:sp>
        <p:nvSpPr>
          <p:cNvPr id="7" name="Text 5"/>
          <p:cNvSpPr/>
          <p:nvPr/>
        </p:nvSpPr>
        <p:spPr>
          <a:xfrm>
            <a:off x="473943" y="3855839"/>
            <a:ext cx="4785494" cy="433388"/>
          </a:xfrm>
          <a:prstGeom prst="rect">
            <a:avLst/>
          </a:prstGeom>
          <a:noFill/>
          <a:ln/>
        </p:spPr>
        <p:txBody>
          <a:bodyPr wrap="square" lIns="0" tIns="0" rIns="0" bIns="0" rtlCol="0" anchor="t"/>
          <a:lstStyle/>
          <a:p>
            <a:pPr marL="0" indent="0" algn="l">
              <a:lnSpc>
                <a:spcPts val="1700"/>
              </a:lnSpc>
              <a:buNone/>
            </a:pPr>
            <a:r>
              <a:rPr lang="en-US" sz="1050" b="1" dirty="0">
                <a:solidFill>
                  <a:srgbClr val="C91313"/>
                </a:solidFill>
                <a:latin typeface="DM Sans" pitchFamily="34" charset="0"/>
                <a:ea typeface="DM Sans" pitchFamily="34" charset="-122"/>
                <a:cs typeface="DM Sans" pitchFamily="34" charset="-120"/>
              </a:rPr>
              <a:t>Semantic meaning:</a:t>
            </a:r>
            <a:r>
              <a:rPr lang="en-US" sz="1050" dirty="0">
                <a:solidFill>
                  <a:srgbClr val="FFE5E5"/>
                </a:solidFill>
                <a:latin typeface="DM Sans" pitchFamily="34" charset="0"/>
                <a:ea typeface="DM Sans" pitchFamily="34" charset="-122"/>
                <a:cs typeface="DM Sans" pitchFamily="34" charset="-120"/>
              </a:rPr>
              <a:t> Lacking inherent button semantics makes navigation nearly impossible for blind users</a:t>
            </a:r>
            <a:endParaRPr lang="en-US" sz="1050" dirty="0"/>
          </a:p>
        </p:txBody>
      </p:sp>
      <p:pic>
        <p:nvPicPr>
          <p:cNvPr id="8" name="Image 0" descr="preencoded.png"/>
          <p:cNvPicPr>
            <a:picLocks noChangeAspect="1"/>
          </p:cNvPicPr>
          <p:nvPr/>
        </p:nvPicPr>
        <p:blipFill>
          <a:blip r:embed="rId3"/>
          <a:stretch>
            <a:fillRect/>
          </a:stretch>
        </p:blipFill>
        <p:spPr>
          <a:xfrm>
            <a:off x="5594598" y="1964085"/>
            <a:ext cx="3080147" cy="1970782"/>
          </a:xfrm>
          <a:prstGeom prst="rect">
            <a:avLst/>
          </a:prstGeom>
        </p:spPr>
      </p:pic>
      <p:sp>
        <p:nvSpPr>
          <p:cNvPr id="9" name="Text 6"/>
          <p:cNvSpPr/>
          <p:nvPr/>
        </p:nvSpPr>
        <p:spPr>
          <a:xfrm>
            <a:off x="5594598" y="4087192"/>
            <a:ext cx="3080147" cy="216694"/>
          </a:xfrm>
          <a:prstGeom prst="rect">
            <a:avLst/>
          </a:prstGeom>
          <a:noFill/>
          <a:ln/>
        </p:spPr>
        <p:txBody>
          <a:bodyPr wrap="none" lIns="0" tIns="0" rIns="0" bIns="0" rtlCol="0" anchor="t"/>
          <a:lstStyle/>
          <a:p>
            <a:pPr marL="0" indent="0" algn="l">
              <a:lnSpc>
                <a:spcPts val="1700"/>
              </a:lnSpc>
              <a:buNone/>
            </a:pPr>
            <a:endParaRPr lang="en-US" sz="1050" dirty="0"/>
          </a:p>
        </p:txBody>
      </p:sp>
    </p:spTree>
    <p:extLst>
      <p:ext uri="{BB962C8B-B14F-4D97-AF65-F5344CB8AC3E}">
        <p14:creationId xmlns:p14="http://schemas.microsoft.com/office/powerpoint/2010/main" val="2729995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589285"/>
            <a:ext cx="7581602"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Phase 2: The Qualitative User Study</a:t>
            </a:r>
            <a:endParaRPr lang="en-US" sz="2800" dirty="0"/>
          </a:p>
        </p:txBody>
      </p:sp>
      <p:sp>
        <p:nvSpPr>
          <p:cNvPr id="3" name="Text 1"/>
          <p:cNvSpPr/>
          <p:nvPr/>
        </p:nvSpPr>
        <p:spPr>
          <a:xfrm>
            <a:off x="473943" y="1305520"/>
            <a:ext cx="8196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To ground automated measurements in real human experience, researchers conducted semi-structured interviews with blind screen reader users.</a:t>
            </a:r>
            <a:endParaRPr lang="en-US" sz="1050" dirty="0"/>
          </a:p>
        </p:txBody>
      </p:sp>
      <p:sp>
        <p:nvSpPr>
          <p:cNvPr id="4" name="Text 2"/>
          <p:cNvSpPr/>
          <p:nvPr/>
        </p:nvSpPr>
        <p:spPr>
          <a:xfrm>
            <a:off x="473943" y="1891233"/>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01</a:t>
            </a:r>
            <a:endParaRPr lang="en-US" sz="1050" dirty="0"/>
          </a:p>
        </p:txBody>
      </p:sp>
      <p:sp>
        <p:nvSpPr>
          <p:cNvPr id="5" name="Shape 3"/>
          <p:cNvSpPr/>
          <p:nvPr/>
        </p:nvSpPr>
        <p:spPr>
          <a:xfrm>
            <a:off x="473943" y="2102197"/>
            <a:ext cx="4030340" cy="19050"/>
          </a:xfrm>
          <a:prstGeom prst="rect">
            <a:avLst/>
          </a:prstGeom>
          <a:solidFill>
            <a:srgbClr val="C91313"/>
          </a:solidFill>
          <a:ln/>
        </p:spPr>
      </p:sp>
      <p:sp>
        <p:nvSpPr>
          <p:cNvPr id="6" name="Text 4"/>
          <p:cNvSpPr/>
          <p:nvPr/>
        </p:nvSpPr>
        <p:spPr>
          <a:xfrm>
            <a:off x="473943" y="2207940"/>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Participants</a:t>
            </a:r>
            <a:endParaRPr lang="en-US" sz="1400" dirty="0"/>
          </a:p>
        </p:txBody>
      </p:sp>
      <p:sp>
        <p:nvSpPr>
          <p:cNvPr id="7" name="Text 5"/>
          <p:cNvSpPr/>
          <p:nvPr/>
        </p:nvSpPr>
        <p:spPr>
          <a:xfrm>
            <a:off x="473943" y="2511772"/>
            <a:ext cx="4030340"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Recruited 13 blind individuals who rely on screen readers daily for web navigation</a:t>
            </a:r>
            <a:endParaRPr lang="en-US" sz="1050" dirty="0"/>
          </a:p>
        </p:txBody>
      </p:sp>
      <p:sp>
        <p:nvSpPr>
          <p:cNvPr id="8" name="Text 6"/>
          <p:cNvSpPr/>
          <p:nvPr/>
        </p:nvSpPr>
        <p:spPr>
          <a:xfrm>
            <a:off x="4639642" y="1891233"/>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02</a:t>
            </a:r>
            <a:endParaRPr lang="en-US" sz="1050" dirty="0"/>
          </a:p>
        </p:txBody>
      </p:sp>
      <p:sp>
        <p:nvSpPr>
          <p:cNvPr id="9" name="Shape 7"/>
          <p:cNvSpPr/>
          <p:nvPr/>
        </p:nvSpPr>
        <p:spPr>
          <a:xfrm>
            <a:off x="4639642" y="2102197"/>
            <a:ext cx="4030414" cy="19050"/>
          </a:xfrm>
          <a:prstGeom prst="rect">
            <a:avLst/>
          </a:prstGeom>
          <a:solidFill>
            <a:srgbClr val="C91313"/>
          </a:solidFill>
          <a:ln/>
        </p:spPr>
      </p:sp>
      <p:sp>
        <p:nvSpPr>
          <p:cNvPr id="10" name="Text 8"/>
          <p:cNvSpPr/>
          <p:nvPr/>
        </p:nvSpPr>
        <p:spPr>
          <a:xfrm>
            <a:off x="4639642" y="2207940"/>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Methodology</a:t>
            </a:r>
            <a:endParaRPr lang="en-US" sz="1400" dirty="0"/>
          </a:p>
        </p:txBody>
      </p:sp>
      <p:sp>
        <p:nvSpPr>
          <p:cNvPr id="11" name="Text 9"/>
          <p:cNvSpPr/>
          <p:nvPr/>
        </p:nvSpPr>
        <p:spPr>
          <a:xfrm>
            <a:off x="4639642" y="2511772"/>
            <a:ext cx="40304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Semi-structured interviews lasting approximately 45 minutes conducted over Zoom</a:t>
            </a:r>
            <a:endParaRPr lang="en-US" sz="1050" dirty="0"/>
          </a:p>
        </p:txBody>
      </p:sp>
      <p:sp>
        <p:nvSpPr>
          <p:cNvPr id="12" name="Text 10"/>
          <p:cNvSpPr/>
          <p:nvPr/>
        </p:nvSpPr>
        <p:spPr>
          <a:xfrm>
            <a:off x="473943" y="3182020"/>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03</a:t>
            </a:r>
            <a:endParaRPr lang="en-US" sz="1050" dirty="0"/>
          </a:p>
        </p:txBody>
      </p:sp>
      <p:sp>
        <p:nvSpPr>
          <p:cNvPr id="13" name="Shape 11"/>
          <p:cNvSpPr/>
          <p:nvPr/>
        </p:nvSpPr>
        <p:spPr>
          <a:xfrm>
            <a:off x="473943" y="3392984"/>
            <a:ext cx="4030340" cy="19050"/>
          </a:xfrm>
          <a:prstGeom prst="rect">
            <a:avLst/>
          </a:prstGeom>
          <a:solidFill>
            <a:srgbClr val="C91313"/>
          </a:solidFill>
          <a:ln/>
        </p:spPr>
      </p:sp>
      <p:sp>
        <p:nvSpPr>
          <p:cNvPr id="14" name="Text 12"/>
          <p:cNvSpPr/>
          <p:nvPr/>
        </p:nvSpPr>
        <p:spPr>
          <a:xfrm>
            <a:off x="473943" y="3498726"/>
            <a:ext cx="1876425"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Test Environment</a:t>
            </a:r>
            <a:endParaRPr lang="en-US" sz="1400" dirty="0"/>
          </a:p>
        </p:txBody>
      </p:sp>
      <p:sp>
        <p:nvSpPr>
          <p:cNvPr id="15" name="Text 13"/>
          <p:cNvSpPr/>
          <p:nvPr/>
        </p:nvSpPr>
        <p:spPr>
          <a:xfrm>
            <a:off x="473943" y="3802559"/>
            <a:ext cx="4030340"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Custom-built blog-style website containing 6 carefully selected ads (1 accessible control, 5 inaccessible variations)</a:t>
            </a:r>
            <a:endParaRPr lang="en-US" sz="1050" dirty="0"/>
          </a:p>
        </p:txBody>
      </p:sp>
      <p:sp>
        <p:nvSpPr>
          <p:cNvPr id="16" name="Text 14"/>
          <p:cNvSpPr/>
          <p:nvPr/>
        </p:nvSpPr>
        <p:spPr>
          <a:xfrm>
            <a:off x="4639642" y="3182020"/>
            <a:ext cx="270793" cy="169218"/>
          </a:xfrm>
          <a:prstGeom prst="rect">
            <a:avLst/>
          </a:prstGeom>
          <a:noFill/>
          <a:ln/>
        </p:spPr>
        <p:txBody>
          <a:bodyPr wrap="none" lIns="0" tIns="0" rIns="0" bIns="0" rtlCol="0" anchor="ctr"/>
          <a:lstStyle/>
          <a:p>
            <a:pPr marL="0" indent="0" algn="l">
              <a:lnSpc>
                <a:spcPct val="100000"/>
              </a:lnSpc>
              <a:buNone/>
            </a:pPr>
            <a:r>
              <a:rPr lang="en-US" sz="1050" dirty="0">
                <a:solidFill>
                  <a:srgbClr val="FFE5E5"/>
                </a:solidFill>
                <a:latin typeface="Dela Gothic One Light" pitchFamily="34" charset="0"/>
                <a:ea typeface="Dela Gothic One Light" pitchFamily="34" charset="-122"/>
                <a:cs typeface="Dela Gothic One Light" pitchFamily="34" charset="-120"/>
              </a:rPr>
              <a:t>04</a:t>
            </a:r>
            <a:endParaRPr lang="en-US" sz="1050" dirty="0"/>
          </a:p>
        </p:txBody>
      </p:sp>
      <p:sp>
        <p:nvSpPr>
          <p:cNvPr id="17" name="Shape 15"/>
          <p:cNvSpPr/>
          <p:nvPr/>
        </p:nvSpPr>
        <p:spPr>
          <a:xfrm>
            <a:off x="4639642" y="3392984"/>
            <a:ext cx="4030414" cy="19050"/>
          </a:xfrm>
          <a:prstGeom prst="rect">
            <a:avLst/>
          </a:prstGeom>
          <a:solidFill>
            <a:srgbClr val="C91313"/>
          </a:solidFill>
          <a:ln/>
        </p:spPr>
      </p:sp>
      <p:sp>
        <p:nvSpPr>
          <p:cNvPr id="18" name="Text 16"/>
          <p:cNvSpPr/>
          <p:nvPr/>
        </p:nvSpPr>
        <p:spPr>
          <a:xfrm>
            <a:off x="4639642" y="3498726"/>
            <a:ext cx="2388840"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"Think Aloud" Protocol</a:t>
            </a:r>
            <a:endParaRPr lang="en-US" sz="1400" dirty="0"/>
          </a:p>
        </p:txBody>
      </p:sp>
      <p:sp>
        <p:nvSpPr>
          <p:cNvPr id="19" name="Text 17"/>
          <p:cNvSpPr/>
          <p:nvPr/>
        </p:nvSpPr>
        <p:spPr>
          <a:xfrm>
            <a:off x="4639642" y="3802559"/>
            <a:ext cx="4030414"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Participants narrated thought processes while navigating, revealing exactly how inaccessible code translates to user frustration</a:t>
            </a:r>
            <a:endParaRPr lang="en-US" sz="1050" dirty="0"/>
          </a:p>
        </p:txBody>
      </p:sp>
    </p:spTree>
    <p:extLst>
      <p:ext uri="{BB962C8B-B14F-4D97-AF65-F5344CB8AC3E}">
        <p14:creationId xmlns:p14="http://schemas.microsoft.com/office/powerpoint/2010/main" val="4250390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667494"/>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User Study Context: Ad Blockers &amp; The Control</a:t>
            </a:r>
            <a:endParaRPr lang="en-US" sz="2800" dirty="0"/>
          </a:p>
        </p:txBody>
      </p:sp>
      <p:sp>
        <p:nvSpPr>
          <p:cNvPr id="3" name="Text 1"/>
          <p:cNvSpPr/>
          <p:nvPr/>
        </p:nvSpPr>
        <p:spPr>
          <a:xfrm>
            <a:off x="473943" y="1896814"/>
            <a:ext cx="3774058"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Ad Blocker Adoption Patterns</a:t>
            </a:r>
            <a:endParaRPr lang="en-US" sz="1650" dirty="0"/>
          </a:p>
        </p:txBody>
      </p:sp>
      <p:sp>
        <p:nvSpPr>
          <p:cNvPr id="4" name="Text 2"/>
          <p:cNvSpPr/>
          <p:nvPr/>
        </p:nvSpPr>
        <p:spPr>
          <a:xfrm>
            <a:off x="473943" y="2299395"/>
            <a:ext cx="4785494"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Surprisingly, most participants (10 out of 13) did not use ad blockers during regular browsing due to usability concerns. This finding challenges the assumption that blind users universally rely on ad-blocking technology.</a:t>
            </a:r>
            <a:endParaRPr lang="en-US" sz="1050" dirty="0"/>
          </a:p>
        </p:txBody>
      </p:sp>
      <p:sp>
        <p:nvSpPr>
          <p:cNvPr id="5" name="Text 3"/>
          <p:cNvSpPr/>
          <p:nvPr/>
        </p:nvSpPr>
        <p:spPr>
          <a:xfrm>
            <a:off x="473943" y="3084835"/>
            <a:ext cx="2827734"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Study Baseline Design</a:t>
            </a:r>
            <a:endParaRPr lang="en-US" sz="1650" dirty="0"/>
          </a:p>
        </p:txBody>
      </p:sp>
      <p:sp>
        <p:nvSpPr>
          <p:cNvPr id="6" name="Text 4"/>
          <p:cNvSpPr/>
          <p:nvPr/>
        </p:nvSpPr>
        <p:spPr>
          <a:xfrm>
            <a:off x="473943" y="3487415"/>
            <a:ext cx="4785494"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Researchers included a "well-designed" control ad to establish baseline comprehension capabilities. All participants successfully identified this ad and understood its contents, proving that accessible advertising is entirely possible with proper implementation.</a:t>
            </a:r>
            <a:endParaRPr lang="en-US" sz="1050" dirty="0"/>
          </a:p>
        </p:txBody>
      </p:sp>
      <p:pic>
        <p:nvPicPr>
          <p:cNvPr id="7" name="Image 0" descr="preencoded.png"/>
          <p:cNvPicPr>
            <a:picLocks noChangeAspect="1"/>
          </p:cNvPicPr>
          <p:nvPr/>
        </p:nvPicPr>
        <p:blipFill>
          <a:blip r:embed="rId3"/>
          <a:stretch>
            <a:fillRect/>
          </a:stretch>
        </p:blipFill>
        <p:spPr>
          <a:xfrm>
            <a:off x="5594598" y="2467124"/>
            <a:ext cx="3080147" cy="964704"/>
          </a:xfrm>
          <a:prstGeom prst="rect">
            <a:avLst/>
          </a:prstGeom>
        </p:spPr>
      </p:pic>
      <p:sp>
        <p:nvSpPr>
          <p:cNvPr id="8" name="Text 5"/>
          <p:cNvSpPr/>
          <p:nvPr/>
        </p:nvSpPr>
        <p:spPr>
          <a:xfrm>
            <a:off x="5594598" y="3584153"/>
            <a:ext cx="3080147" cy="216694"/>
          </a:xfrm>
          <a:prstGeom prst="rect">
            <a:avLst/>
          </a:prstGeom>
          <a:noFill/>
          <a:ln/>
        </p:spPr>
        <p:txBody>
          <a:bodyPr wrap="none" lIns="0" tIns="0" rIns="0" bIns="0" rtlCol="0" anchor="t"/>
          <a:lstStyle/>
          <a:p>
            <a:pPr marL="0" indent="0" algn="l">
              <a:lnSpc>
                <a:spcPts val="1700"/>
              </a:lnSpc>
              <a:buNone/>
            </a:pPr>
            <a:endParaRPr lang="en-US" sz="1050" dirty="0"/>
          </a:p>
        </p:txBody>
      </p:sp>
    </p:spTree>
    <p:extLst>
      <p:ext uri="{BB962C8B-B14F-4D97-AF65-F5344CB8AC3E}">
        <p14:creationId xmlns:p14="http://schemas.microsoft.com/office/powerpoint/2010/main" val="455643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532954"/>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User Behavior: The "Navigate Away" Instinct</a:t>
            </a:r>
            <a:endParaRPr lang="en-US" sz="2800" dirty="0"/>
          </a:p>
        </p:txBody>
      </p:sp>
      <p:sp>
        <p:nvSpPr>
          <p:cNvPr id="3" name="Shape 1"/>
          <p:cNvSpPr/>
          <p:nvPr/>
        </p:nvSpPr>
        <p:spPr>
          <a:xfrm>
            <a:off x="473943" y="1694631"/>
            <a:ext cx="304651" cy="304651"/>
          </a:xfrm>
          <a:prstGeom prst="roundRect">
            <a:avLst>
              <a:gd name="adj" fmla="val 18669"/>
            </a:avLst>
          </a:prstGeom>
          <a:solidFill>
            <a:srgbClr val="740B0B"/>
          </a:solidFill>
          <a:ln w="4763">
            <a:solidFill>
              <a:srgbClr val="8D2424"/>
            </a:solidFill>
            <a:prstDash val="solid"/>
          </a:ln>
        </p:spPr>
      </p:sp>
      <p:sp>
        <p:nvSpPr>
          <p:cNvPr id="4" name="Text 2"/>
          <p:cNvSpPr/>
          <p:nvPr/>
        </p:nvSpPr>
        <p:spPr>
          <a:xfrm>
            <a:off x="913954" y="1741140"/>
            <a:ext cx="2179216"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Overwhelmingly Negative Sentiment</a:t>
            </a:r>
            <a:endParaRPr lang="en-US" sz="1400" dirty="0"/>
          </a:p>
        </p:txBody>
      </p:sp>
      <p:sp>
        <p:nvSpPr>
          <p:cNvPr id="5" name="Text 3"/>
          <p:cNvSpPr/>
          <p:nvPr/>
        </p:nvSpPr>
        <p:spPr>
          <a:xfrm>
            <a:off x="913954" y="2267620"/>
            <a:ext cx="2179216"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Participants viewed online ads as major distractions that actively interfere with their browsing experience and productivity.</a:t>
            </a:r>
            <a:endParaRPr lang="en-US" sz="1050" dirty="0"/>
          </a:p>
        </p:txBody>
      </p:sp>
      <p:sp>
        <p:nvSpPr>
          <p:cNvPr id="6" name="Shape 4"/>
          <p:cNvSpPr/>
          <p:nvPr/>
        </p:nvSpPr>
        <p:spPr>
          <a:xfrm>
            <a:off x="3262387" y="1694631"/>
            <a:ext cx="304651" cy="304651"/>
          </a:xfrm>
          <a:prstGeom prst="roundRect">
            <a:avLst>
              <a:gd name="adj" fmla="val 18669"/>
            </a:avLst>
          </a:prstGeom>
          <a:solidFill>
            <a:srgbClr val="740B0B"/>
          </a:solidFill>
          <a:ln w="4763">
            <a:solidFill>
              <a:srgbClr val="8D2424"/>
            </a:solidFill>
            <a:prstDash val="solid"/>
          </a:ln>
        </p:spPr>
      </p:sp>
      <p:sp>
        <p:nvSpPr>
          <p:cNvPr id="7" name="Text 5"/>
          <p:cNvSpPr/>
          <p:nvPr/>
        </p:nvSpPr>
        <p:spPr>
          <a:xfrm>
            <a:off x="3702397" y="1741140"/>
            <a:ext cx="2179216"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Immediate Reaction Protocol</a:t>
            </a:r>
            <a:endParaRPr lang="en-US" sz="1400" dirty="0"/>
          </a:p>
        </p:txBody>
      </p:sp>
      <p:sp>
        <p:nvSpPr>
          <p:cNvPr id="8" name="Text 6"/>
          <p:cNvSpPr/>
          <p:nvPr/>
        </p:nvSpPr>
        <p:spPr>
          <a:xfrm>
            <a:off x="3702397" y="2267620"/>
            <a:ext cx="2179216" cy="1083469"/>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When encountering an ad, the primary goal was to scroll past or close it as fast as possible, with minimal engagement or examination.</a:t>
            </a:r>
            <a:endParaRPr lang="en-US" sz="1050" dirty="0"/>
          </a:p>
        </p:txBody>
      </p:sp>
      <p:sp>
        <p:nvSpPr>
          <p:cNvPr id="9" name="Shape 7"/>
          <p:cNvSpPr/>
          <p:nvPr/>
        </p:nvSpPr>
        <p:spPr>
          <a:xfrm>
            <a:off x="6050831" y="1694631"/>
            <a:ext cx="304651" cy="304651"/>
          </a:xfrm>
          <a:prstGeom prst="roundRect">
            <a:avLst>
              <a:gd name="adj" fmla="val 18669"/>
            </a:avLst>
          </a:prstGeom>
          <a:solidFill>
            <a:srgbClr val="740B0B"/>
          </a:solidFill>
          <a:ln w="4763">
            <a:solidFill>
              <a:srgbClr val="8D2424"/>
            </a:solidFill>
            <a:prstDash val="solid"/>
          </a:ln>
        </p:spPr>
      </p:sp>
      <p:sp>
        <p:nvSpPr>
          <p:cNvPr id="10" name="Text 8"/>
          <p:cNvSpPr/>
          <p:nvPr/>
        </p:nvSpPr>
        <p:spPr>
          <a:xfrm>
            <a:off x="6490841" y="1741140"/>
            <a:ext cx="2179216"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Zero Tolerance for Inaccessibility</a:t>
            </a:r>
            <a:endParaRPr lang="en-US" sz="1400" dirty="0"/>
          </a:p>
        </p:txBody>
      </p:sp>
      <p:sp>
        <p:nvSpPr>
          <p:cNvPr id="11" name="Text 9"/>
          <p:cNvSpPr/>
          <p:nvPr/>
        </p:nvSpPr>
        <p:spPr>
          <a:xfrm>
            <a:off x="6490841" y="2267620"/>
            <a:ext cx="2179216"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Blind users will not spend time deciphering inaccessible ads. The burden of comprehension falls entirely on ad designers, not users.</a:t>
            </a:r>
            <a:endParaRPr lang="en-US" sz="1050" dirty="0"/>
          </a:p>
        </p:txBody>
      </p:sp>
      <p:sp>
        <p:nvSpPr>
          <p:cNvPr id="12" name="Text 10"/>
          <p:cNvSpPr/>
          <p:nvPr/>
        </p:nvSpPr>
        <p:spPr>
          <a:xfrm>
            <a:off x="677019" y="3655740"/>
            <a:ext cx="7993038"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"If they aren't going to spend time making it easy for me to understand, I'm not going to waste my time. I'm just going to scroll right past."</a:t>
            </a:r>
            <a:endParaRPr lang="en-US" sz="1050" dirty="0"/>
          </a:p>
        </p:txBody>
      </p:sp>
      <p:sp>
        <p:nvSpPr>
          <p:cNvPr id="13" name="Text 11"/>
          <p:cNvSpPr/>
          <p:nvPr/>
        </p:nvSpPr>
        <p:spPr>
          <a:xfrm>
            <a:off x="677019" y="4241453"/>
            <a:ext cx="7993038" cy="216694"/>
          </a:xfrm>
          <a:prstGeom prst="rect">
            <a:avLst/>
          </a:prstGeom>
          <a:noFill/>
          <a:ln/>
        </p:spPr>
        <p:txBody>
          <a:bodyPr wrap="non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 </a:t>
            </a:r>
            <a:r>
              <a:rPr lang="en-US" sz="1050" b="1" dirty="0">
                <a:solidFill>
                  <a:srgbClr val="FFE5E5"/>
                </a:solidFill>
                <a:latin typeface="DM Sans" pitchFamily="34" charset="0"/>
                <a:ea typeface="DM Sans" pitchFamily="34" charset="-122"/>
                <a:cs typeface="DM Sans" pitchFamily="34" charset="-120"/>
              </a:rPr>
              <a:t>Participant 7</a:t>
            </a:r>
            <a:endParaRPr lang="en-US" sz="1050" dirty="0"/>
          </a:p>
        </p:txBody>
      </p:sp>
      <p:sp>
        <p:nvSpPr>
          <p:cNvPr id="14" name="Shape 12"/>
          <p:cNvSpPr/>
          <p:nvPr/>
        </p:nvSpPr>
        <p:spPr>
          <a:xfrm>
            <a:off x="473943" y="3503414"/>
            <a:ext cx="19050" cy="1107058"/>
          </a:xfrm>
          <a:prstGeom prst="rect">
            <a:avLst/>
          </a:prstGeom>
          <a:solidFill>
            <a:srgbClr val="C91313"/>
          </a:solidFill>
          <a:ln/>
        </p:spPr>
      </p:sp>
    </p:spTree>
    <p:extLst>
      <p:ext uri="{BB962C8B-B14F-4D97-AF65-F5344CB8AC3E}">
        <p14:creationId xmlns:p14="http://schemas.microsoft.com/office/powerpoint/2010/main" val="2186162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667494"/>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Understandability: The Confusion of Non-Descriptive Text</a:t>
            </a:r>
            <a:endParaRPr lang="en-US" sz="2800" dirty="0"/>
          </a:p>
        </p:txBody>
      </p:sp>
      <p:sp>
        <p:nvSpPr>
          <p:cNvPr id="3" name="Text 1"/>
          <p:cNvSpPr/>
          <p:nvPr/>
        </p:nvSpPr>
        <p:spPr>
          <a:xfrm>
            <a:off x="473943" y="1896814"/>
            <a:ext cx="3798243"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Context-Dependent Detection</a:t>
            </a:r>
            <a:endParaRPr lang="en-US" sz="1650" dirty="0"/>
          </a:p>
        </p:txBody>
      </p:sp>
      <p:sp>
        <p:nvSpPr>
          <p:cNvPr id="4" name="Text 2"/>
          <p:cNvSpPr/>
          <p:nvPr/>
        </p:nvSpPr>
        <p:spPr>
          <a:xfrm>
            <a:off x="473943" y="2299395"/>
            <a:ext cx="4359176"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Because technical ad disclosures often fail, screen reader users rely heavily on surrounding context (e.g., hearing a medical pitch on a health news website). However, non-descriptive content destroys this contextual awareness.</a:t>
            </a:r>
            <a:endParaRPr lang="en-US" sz="1050" dirty="0"/>
          </a:p>
        </p:txBody>
      </p:sp>
      <p:sp>
        <p:nvSpPr>
          <p:cNvPr id="5" name="Text 3"/>
          <p:cNvSpPr/>
          <p:nvPr/>
        </p:nvSpPr>
        <p:spPr>
          <a:xfrm>
            <a:off x="473943" y="3301529"/>
            <a:ext cx="3037359"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The Car Seat Ad Failure</a:t>
            </a:r>
            <a:endParaRPr lang="en-US" sz="1650" dirty="0"/>
          </a:p>
        </p:txBody>
      </p:sp>
      <p:sp>
        <p:nvSpPr>
          <p:cNvPr id="6" name="Text 4"/>
          <p:cNvSpPr/>
          <p:nvPr/>
        </p:nvSpPr>
        <p:spPr>
          <a:xfrm>
            <a:off x="473943" y="3704109"/>
            <a:ext cx="4359176" cy="650081"/>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Every participant initially failed to detect the car seat ad in the study because the alt-text simply read "Advertisement", causing it to blend indistinguishably into the blog post content.</a:t>
            </a:r>
            <a:endParaRPr lang="en-US" sz="1050" dirty="0"/>
          </a:p>
        </p:txBody>
      </p:sp>
      <p:pic>
        <p:nvPicPr>
          <p:cNvPr id="7" name="Image 0" descr="preencoded.png"/>
          <p:cNvPicPr>
            <a:picLocks noChangeAspect="1"/>
          </p:cNvPicPr>
          <p:nvPr/>
        </p:nvPicPr>
        <p:blipFill>
          <a:blip r:embed="rId3"/>
          <a:stretch>
            <a:fillRect/>
          </a:stretch>
        </p:blipFill>
        <p:spPr>
          <a:xfrm>
            <a:off x="5168280" y="1950393"/>
            <a:ext cx="3506465" cy="1998166"/>
          </a:xfrm>
          <a:prstGeom prst="rect">
            <a:avLst/>
          </a:prstGeom>
        </p:spPr>
      </p:pic>
      <p:sp>
        <p:nvSpPr>
          <p:cNvPr id="8" name="Text 5"/>
          <p:cNvSpPr/>
          <p:nvPr/>
        </p:nvSpPr>
        <p:spPr>
          <a:xfrm>
            <a:off x="5168280" y="4100885"/>
            <a:ext cx="3506465" cy="216694"/>
          </a:xfrm>
          <a:prstGeom prst="rect">
            <a:avLst/>
          </a:prstGeom>
          <a:noFill/>
          <a:ln/>
        </p:spPr>
        <p:txBody>
          <a:bodyPr wrap="none" lIns="0" tIns="0" rIns="0" bIns="0" rtlCol="0" anchor="t"/>
          <a:lstStyle/>
          <a:p>
            <a:pPr marL="0" indent="0" algn="l">
              <a:lnSpc>
                <a:spcPts val="1700"/>
              </a:lnSpc>
              <a:buNone/>
            </a:pPr>
            <a:endParaRPr lang="en-US" sz="1050" dirty="0"/>
          </a:p>
        </p:txBody>
      </p:sp>
    </p:spTree>
    <p:extLst>
      <p:ext uri="{BB962C8B-B14F-4D97-AF65-F5344CB8AC3E}">
        <p14:creationId xmlns:p14="http://schemas.microsoft.com/office/powerpoint/2010/main" val="34012807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703138"/>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Navigability: Focus Traps &amp; Unlabeled Links</a:t>
            </a:r>
            <a:endParaRPr lang="en-US" sz="2800" dirty="0"/>
          </a:p>
        </p:txBody>
      </p:sp>
      <p:sp>
        <p:nvSpPr>
          <p:cNvPr id="3" name="Text 1"/>
          <p:cNvSpPr/>
          <p:nvPr/>
        </p:nvSpPr>
        <p:spPr>
          <a:xfrm>
            <a:off x="473943" y="2018630"/>
            <a:ext cx="2959819" cy="267221"/>
          </a:xfrm>
          <a:prstGeom prst="rect">
            <a:avLst/>
          </a:prstGeom>
          <a:noFill/>
          <a:ln/>
        </p:spPr>
        <p:txBody>
          <a:bodyPr wrap="non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Focus Trap Mechanism</a:t>
            </a:r>
            <a:endParaRPr lang="en-US" sz="1650" dirty="0"/>
          </a:p>
        </p:txBody>
      </p:sp>
      <p:sp>
        <p:nvSpPr>
          <p:cNvPr id="4" name="Text 2"/>
          <p:cNvSpPr/>
          <p:nvPr/>
        </p:nvSpPr>
        <p:spPr>
          <a:xfrm>
            <a:off x="473943" y="2421210"/>
            <a:ext cx="3932858"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Ads with multiple interactive elements act as "Focus Traps" that capture screen reader navigation. One participant had their screen reader literally trapped inside an ad's unlabeled links, forcing them to use special shortcut keys just to escape.</a:t>
            </a:r>
            <a:endParaRPr lang="en-US" sz="1050" dirty="0"/>
          </a:p>
        </p:txBody>
      </p:sp>
      <p:pic>
        <p:nvPicPr>
          <p:cNvPr id="5" name="Image 0" descr="preencoded.png"/>
          <p:cNvPicPr>
            <a:picLocks noChangeAspect="1"/>
          </p:cNvPicPr>
          <p:nvPr/>
        </p:nvPicPr>
        <p:blipFill>
          <a:blip r:embed="rId3"/>
          <a:stretch>
            <a:fillRect/>
          </a:stretch>
        </p:blipFill>
        <p:spPr>
          <a:xfrm>
            <a:off x="4741962" y="1949425"/>
            <a:ext cx="3523878" cy="1055787"/>
          </a:xfrm>
          <a:prstGeom prst="rect">
            <a:avLst/>
          </a:prstGeom>
        </p:spPr>
      </p:pic>
      <p:sp>
        <p:nvSpPr>
          <p:cNvPr id="6" name="Text 3"/>
          <p:cNvSpPr/>
          <p:nvPr/>
        </p:nvSpPr>
        <p:spPr>
          <a:xfrm>
            <a:off x="4741962" y="3157537"/>
            <a:ext cx="3932858" cy="216694"/>
          </a:xfrm>
          <a:prstGeom prst="rect">
            <a:avLst/>
          </a:prstGeom>
          <a:noFill/>
          <a:ln/>
        </p:spPr>
        <p:txBody>
          <a:bodyPr wrap="none" lIns="0" tIns="0" rIns="0" bIns="0" rtlCol="0" anchor="t"/>
          <a:lstStyle/>
          <a:p>
            <a:pPr marL="0" indent="0" algn="l">
              <a:lnSpc>
                <a:spcPts val="1700"/>
              </a:lnSpc>
              <a:buNone/>
            </a:pPr>
            <a:endParaRPr lang="en-US" sz="1050" dirty="0"/>
          </a:p>
        </p:txBody>
      </p:sp>
      <p:sp>
        <p:nvSpPr>
          <p:cNvPr id="7" name="Shape 4"/>
          <p:cNvSpPr/>
          <p:nvPr/>
        </p:nvSpPr>
        <p:spPr>
          <a:xfrm>
            <a:off x="473943" y="3648373"/>
            <a:ext cx="8196114" cy="791989"/>
          </a:xfrm>
          <a:prstGeom prst="roundRect">
            <a:avLst>
              <a:gd name="adj" fmla="val 7181"/>
            </a:avLst>
          </a:prstGeom>
          <a:solidFill>
            <a:srgbClr val="4B3F02"/>
          </a:solidFill>
          <a:ln/>
        </p:spPr>
      </p:sp>
      <p:pic>
        <p:nvPicPr>
          <p:cNvPr id="8" name="Image 1" descr="preencoded.png"/>
          <p:cNvPicPr>
            <a:picLocks noChangeAspect="1"/>
          </p:cNvPicPr>
          <p:nvPr/>
        </p:nvPicPr>
        <p:blipFill>
          <a:blip r:embed="rId4"/>
          <a:stretch>
            <a:fillRect/>
          </a:stretch>
        </p:blipFill>
        <p:spPr>
          <a:xfrm>
            <a:off x="609302" y="3851449"/>
            <a:ext cx="169218" cy="135359"/>
          </a:xfrm>
          <a:prstGeom prst="rect">
            <a:avLst/>
          </a:prstGeom>
        </p:spPr>
      </p:pic>
      <p:sp>
        <p:nvSpPr>
          <p:cNvPr id="9" name="Text 5"/>
          <p:cNvSpPr/>
          <p:nvPr/>
        </p:nvSpPr>
        <p:spPr>
          <a:xfrm>
            <a:off x="913879" y="3817516"/>
            <a:ext cx="7620819" cy="433388"/>
          </a:xfrm>
          <a:prstGeom prst="rect">
            <a:avLst/>
          </a:prstGeom>
          <a:noFill/>
          <a:ln/>
        </p:spPr>
        <p:txBody>
          <a:bodyPr wrap="square" lIns="0" tIns="0" rIns="0" bIns="0" rtlCol="0" anchor="t"/>
          <a:lstStyle/>
          <a:p>
            <a:pPr marL="0" indent="0" algn="l">
              <a:lnSpc>
                <a:spcPts val="1700"/>
              </a:lnSpc>
              <a:buNone/>
            </a:pPr>
            <a:r>
              <a:rPr lang="en-US" sz="1050" b="1" dirty="0">
                <a:solidFill>
                  <a:srgbClr val="FFFFFF"/>
                </a:solidFill>
                <a:latin typeface="DM Sans" pitchFamily="34" charset="0"/>
                <a:ea typeface="DM Sans" pitchFamily="34" charset="-122"/>
                <a:cs typeface="DM Sans" pitchFamily="34" charset="-120"/>
              </a:rPr>
              <a:t>Devastating User Impact:</a:t>
            </a:r>
            <a:r>
              <a:rPr lang="en-US" sz="1050" dirty="0">
                <a:solidFill>
                  <a:srgbClr val="FFFFFF"/>
                </a:solidFill>
                <a:latin typeface="DM Sans" pitchFamily="34" charset="0"/>
                <a:ea typeface="DM Sans" pitchFamily="34" charset="-122"/>
                <a:cs typeface="DM Sans" pitchFamily="34" charset="-120"/>
              </a:rPr>
              <a:t> When screen readers announce massive strings of unlabeled URLs, users often mistakenly believe the actual website is broken rather than recognizing an inaccessible advertisement.</a:t>
            </a:r>
            <a:endParaRPr lang="en-US" sz="1050" dirty="0"/>
          </a:p>
        </p:txBody>
      </p:sp>
    </p:spTree>
    <p:extLst>
      <p:ext uri="{BB962C8B-B14F-4D97-AF65-F5344CB8AC3E}">
        <p14:creationId xmlns:p14="http://schemas.microsoft.com/office/powerpoint/2010/main" val="2272544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1157139"/>
            <a:ext cx="8196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Off-Screen Intrusions: Pop-ups &amp; Video Ads</a:t>
            </a:r>
            <a:endParaRPr lang="en-US" sz="2800" dirty="0"/>
          </a:p>
        </p:txBody>
      </p:sp>
      <p:sp>
        <p:nvSpPr>
          <p:cNvPr id="3" name="Shape 1"/>
          <p:cNvSpPr/>
          <p:nvPr/>
        </p:nvSpPr>
        <p:spPr>
          <a:xfrm>
            <a:off x="473943" y="2318817"/>
            <a:ext cx="4030340" cy="1667545"/>
          </a:xfrm>
          <a:prstGeom prst="roundRect">
            <a:avLst>
              <a:gd name="adj" fmla="val 3411"/>
            </a:avLst>
          </a:prstGeom>
          <a:solidFill>
            <a:srgbClr val="C91313"/>
          </a:solidFill>
          <a:ln w="4763">
            <a:solidFill>
              <a:srgbClr val="E22C2C"/>
            </a:solidFill>
            <a:prstDash val="solid"/>
          </a:ln>
        </p:spPr>
      </p:sp>
      <p:sp>
        <p:nvSpPr>
          <p:cNvPr id="4" name="Text 2"/>
          <p:cNvSpPr/>
          <p:nvPr/>
        </p:nvSpPr>
        <p:spPr>
          <a:xfrm>
            <a:off x="614065" y="2458938"/>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Dela Gothic One" pitchFamily="34" charset="0"/>
                <a:ea typeface="Dela Gothic One" pitchFamily="34" charset="-122"/>
                <a:cs typeface="Dela Gothic One" pitchFamily="34" charset="-120"/>
              </a:rPr>
              <a:t>Pop-up Ad Crisis</a:t>
            </a:r>
            <a:endParaRPr lang="en-US" sz="1400" dirty="0"/>
          </a:p>
        </p:txBody>
      </p:sp>
      <p:sp>
        <p:nvSpPr>
          <p:cNvPr id="5" name="Text 3"/>
          <p:cNvSpPr/>
          <p:nvPr/>
        </p:nvSpPr>
        <p:spPr>
          <a:xfrm>
            <a:off x="614065" y="2762771"/>
            <a:ext cx="3750097" cy="866775"/>
          </a:xfrm>
          <a:prstGeom prst="rect">
            <a:avLst/>
          </a:prstGeom>
          <a:noFill/>
          <a:ln/>
        </p:spPr>
        <p:txBody>
          <a:bodyPr wrap="square" lIns="0" tIns="0" rIns="0" bIns="0" rtlCol="0" anchor="t"/>
          <a:lstStyle/>
          <a:p>
            <a:pPr marL="0" indent="0" algn="l">
              <a:lnSpc>
                <a:spcPts val="1700"/>
              </a:lnSpc>
              <a:buNone/>
            </a:pPr>
            <a:r>
              <a:rPr lang="en-US" sz="1050" dirty="0">
                <a:solidFill>
                  <a:srgbClr val="FFFFFF"/>
                </a:solidFill>
                <a:latin typeface="DM Sans" pitchFamily="34" charset="0"/>
                <a:ea typeface="DM Sans" pitchFamily="34" charset="-122"/>
                <a:cs typeface="DM Sans" pitchFamily="34" charset="-120"/>
              </a:rPr>
              <a:t>Participants noted that pop-up ads are devastating for screen reader users because they violently steal the keyboard focus. Closing them often resets the user's place on the webpage, forcing them to start over.</a:t>
            </a:r>
            <a:endParaRPr lang="en-US" sz="1050" dirty="0"/>
          </a:p>
        </p:txBody>
      </p:sp>
      <p:sp>
        <p:nvSpPr>
          <p:cNvPr id="6" name="Shape 4"/>
          <p:cNvSpPr/>
          <p:nvPr/>
        </p:nvSpPr>
        <p:spPr>
          <a:xfrm>
            <a:off x="4639642" y="2318817"/>
            <a:ext cx="4030414" cy="1667545"/>
          </a:xfrm>
          <a:prstGeom prst="roundRect">
            <a:avLst>
              <a:gd name="adj" fmla="val 3411"/>
            </a:avLst>
          </a:prstGeom>
          <a:solidFill>
            <a:srgbClr val="C91313"/>
          </a:solidFill>
          <a:ln w="4763">
            <a:solidFill>
              <a:srgbClr val="E22C2C"/>
            </a:solidFill>
            <a:prstDash val="solid"/>
          </a:ln>
        </p:spPr>
      </p:sp>
      <p:sp>
        <p:nvSpPr>
          <p:cNvPr id="7" name="Text 5"/>
          <p:cNvSpPr/>
          <p:nvPr/>
        </p:nvSpPr>
        <p:spPr>
          <a:xfrm>
            <a:off x="4779764" y="2458938"/>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FFFF"/>
                </a:solidFill>
                <a:latin typeface="Dela Gothic One" pitchFamily="34" charset="0"/>
                <a:ea typeface="Dela Gothic One" pitchFamily="34" charset="-122"/>
                <a:cs typeface="Dela Gothic One" pitchFamily="34" charset="-120"/>
              </a:rPr>
              <a:t>Audio Overload</a:t>
            </a:r>
            <a:endParaRPr lang="en-US" sz="1400" dirty="0"/>
          </a:p>
        </p:txBody>
      </p:sp>
      <p:sp>
        <p:nvSpPr>
          <p:cNvPr id="8" name="Text 6"/>
          <p:cNvSpPr/>
          <p:nvPr/>
        </p:nvSpPr>
        <p:spPr>
          <a:xfrm>
            <a:off x="4779764" y="2762771"/>
            <a:ext cx="3750171" cy="1083469"/>
          </a:xfrm>
          <a:prstGeom prst="rect">
            <a:avLst/>
          </a:prstGeom>
          <a:noFill/>
          <a:ln/>
        </p:spPr>
        <p:txBody>
          <a:bodyPr wrap="square" lIns="0" tIns="0" rIns="0" bIns="0" rtlCol="0" anchor="t"/>
          <a:lstStyle/>
          <a:p>
            <a:pPr marL="0" indent="0" algn="l">
              <a:lnSpc>
                <a:spcPts val="1700"/>
              </a:lnSpc>
              <a:buNone/>
            </a:pPr>
            <a:r>
              <a:rPr lang="en-US" sz="1050" dirty="0">
                <a:solidFill>
                  <a:srgbClr val="FFFFFF"/>
                </a:solidFill>
                <a:latin typeface="DM Sans" pitchFamily="34" charset="0"/>
                <a:ea typeface="DM Sans" pitchFamily="34" charset="-122"/>
                <a:cs typeface="DM Sans" pitchFamily="34" charset="-120"/>
              </a:rPr>
              <a:t>Participants described how auto-playing video ads literally "yelled" over their screen readers. The ad audio would aggressively count down seconds, overriding the screen reader's voice and breaking the user's ability to navigate the underlying page.</a:t>
            </a:r>
            <a:endParaRPr lang="en-US" sz="1050" dirty="0"/>
          </a:p>
        </p:txBody>
      </p:sp>
    </p:spTree>
    <p:extLst>
      <p:ext uri="{BB962C8B-B14F-4D97-AF65-F5344CB8AC3E}">
        <p14:creationId xmlns:p14="http://schemas.microsoft.com/office/powerpoint/2010/main" val="14506368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853008"/>
            <a:ext cx="3782839"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Study Limitations</a:t>
            </a:r>
            <a:endParaRPr lang="en-US" sz="2800" dirty="0"/>
          </a:p>
        </p:txBody>
      </p:sp>
      <p:sp>
        <p:nvSpPr>
          <p:cNvPr id="3" name="Text 1"/>
          <p:cNvSpPr/>
          <p:nvPr/>
        </p:nvSpPr>
        <p:spPr>
          <a:xfrm>
            <a:off x="473943" y="1569244"/>
            <a:ext cx="8196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researchers openly acknowledged several limitations in their methodology that constrain the scope and generalizability of findings.</a:t>
            </a:r>
            <a:endParaRPr lang="en-US" sz="1050" dirty="0"/>
          </a:p>
        </p:txBody>
      </p:sp>
      <p:sp>
        <p:nvSpPr>
          <p:cNvPr id="4" name="Shape 2"/>
          <p:cNvSpPr/>
          <p:nvPr/>
        </p:nvSpPr>
        <p:spPr>
          <a:xfrm>
            <a:off x="473943" y="2154957"/>
            <a:ext cx="2641774" cy="2135460"/>
          </a:xfrm>
          <a:prstGeom prst="roundRect">
            <a:avLst>
              <a:gd name="adj" fmla="val 2663"/>
            </a:avLst>
          </a:prstGeom>
          <a:solidFill>
            <a:srgbClr val="0A0A0A">
              <a:alpha val="95000"/>
            </a:srgbClr>
          </a:solidFill>
          <a:ln w="19050">
            <a:solidFill>
              <a:srgbClr val="8D2424"/>
            </a:solidFill>
            <a:prstDash val="solid"/>
          </a:ln>
        </p:spPr>
      </p:sp>
      <p:sp>
        <p:nvSpPr>
          <p:cNvPr id="5" name="Text 3"/>
          <p:cNvSpPr/>
          <p:nvPr/>
        </p:nvSpPr>
        <p:spPr>
          <a:xfrm>
            <a:off x="628352" y="2309366"/>
            <a:ext cx="2332955"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Automated Blind Spots</a:t>
            </a:r>
            <a:endParaRPr lang="en-US" sz="1400" dirty="0"/>
          </a:p>
        </p:txBody>
      </p:sp>
      <p:sp>
        <p:nvSpPr>
          <p:cNvPr id="6" name="Text 4"/>
          <p:cNvSpPr/>
          <p:nvPr/>
        </p:nvSpPr>
        <p:spPr>
          <a:xfrm>
            <a:off x="628352" y="2835846"/>
            <a:ext cx="2332955" cy="1300163"/>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crawler used "clean profiles" (no cookies) and static snapshots, meaning it missed the highly disruptive pop-up and auto-playing video ads users complained about during interviews.</a:t>
            </a:r>
            <a:endParaRPr lang="en-US" sz="1050" dirty="0"/>
          </a:p>
        </p:txBody>
      </p:sp>
      <p:sp>
        <p:nvSpPr>
          <p:cNvPr id="7" name="Shape 5"/>
          <p:cNvSpPr/>
          <p:nvPr/>
        </p:nvSpPr>
        <p:spPr>
          <a:xfrm>
            <a:off x="3251076" y="2154957"/>
            <a:ext cx="2641774" cy="2135460"/>
          </a:xfrm>
          <a:prstGeom prst="roundRect">
            <a:avLst>
              <a:gd name="adj" fmla="val 2663"/>
            </a:avLst>
          </a:prstGeom>
          <a:solidFill>
            <a:srgbClr val="0A0A0A">
              <a:alpha val="95000"/>
            </a:srgbClr>
          </a:solidFill>
          <a:ln w="19050">
            <a:solidFill>
              <a:srgbClr val="8D2424"/>
            </a:solidFill>
            <a:prstDash val="solid"/>
          </a:ln>
        </p:spPr>
      </p:sp>
      <p:sp>
        <p:nvSpPr>
          <p:cNvPr id="8" name="Text 6"/>
          <p:cNvSpPr/>
          <p:nvPr/>
        </p:nvSpPr>
        <p:spPr>
          <a:xfrm>
            <a:off x="3405485" y="2309366"/>
            <a:ext cx="2332955"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Methodological Constraints</a:t>
            </a:r>
            <a:endParaRPr lang="en-US" sz="1400" dirty="0"/>
          </a:p>
        </p:txBody>
      </p:sp>
      <p:sp>
        <p:nvSpPr>
          <p:cNvPr id="9" name="Text 7"/>
          <p:cNvSpPr/>
          <p:nvPr/>
        </p:nvSpPr>
        <p:spPr>
          <a:xfrm>
            <a:off x="3405485" y="2835846"/>
            <a:ext cx="2332955" cy="1300163"/>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crawler relied on visual heuristics rather than network-based tracking, and it did not actually run with a screen reader enabled during the automated phase.</a:t>
            </a:r>
            <a:endParaRPr lang="en-US" sz="1050" dirty="0"/>
          </a:p>
        </p:txBody>
      </p:sp>
      <p:sp>
        <p:nvSpPr>
          <p:cNvPr id="10" name="Shape 8"/>
          <p:cNvSpPr/>
          <p:nvPr/>
        </p:nvSpPr>
        <p:spPr>
          <a:xfrm>
            <a:off x="6028209" y="2154957"/>
            <a:ext cx="2641848" cy="2135460"/>
          </a:xfrm>
          <a:prstGeom prst="roundRect">
            <a:avLst>
              <a:gd name="adj" fmla="val 2663"/>
            </a:avLst>
          </a:prstGeom>
          <a:solidFill>
            <a:srgbClr val="0A0A0A">
              <a:alpha val="95000"/>
            </a:srgbClr>
          </a:solidFill>
          <a:ln w="19050">
            <a:solidFill>
              <a:srgbClr val="8D2424"/>
            </a:solidFill>
            <a:prstDash val="solid"/>
          </a:ln>
        </p:spPr>
      </p:sp>
      <p:sp>
        <p:nvSpPr>
          <p:cNvPr id="11" name="Text 9"/>
          <p:cNvSpPr/>
          <p:nvPr/>
        </p:nvSpPr>
        <p:spPr>
          <a:xfrm>
            <a:off x="6182618" y="2309366"/>
            <a:ext cx="2333030" cy="445294"/>
          </a:xfrm>
          <a:prstGeom prst="rect">
            <a:avLst/>
          </a:prstGeom>
          <a:noFill/>
          <a:ln/>
        </p:spPr>
        <p:txBody>
          <a:bodyPr wrap="squar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Demographics &amp; Geography</a:t>
            </a:r>
            <a:endParaRPr lang="en-US" sz="1400" dirty="0"/>
          </a:p>
        </p:txBody>
      </p:sp>
      <p:sp>
        <p:nvSpPr>
          <p:cNvPr id="12" name="Text 10"/>
          <p:cNvSpPr/>
          <p:nvPr/>
        </p:nvSpPr>
        <p:spPr>
          <a:xfrm>
            <a:off x="6182618" y="2835846"/>
            <a:ext cx="2333030"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The participant pool skewed young and white, and the crawler only analyzed US-based websites, limiting international applicability.</a:t>
            </a:r>
            <a:endParaRPr lang="en-US" sz="1050" dirty="0"/>
          </a:p>
        </p:txBody>
      </p:sp>
    </p:spTree>
    <p:extLst>
      <p:ext uri="{BB962C8B-B14F-4D97-AF65-F5344CB8AC3E}">
        <p14:creationId xmlns:p14="http://schemas.microsoft.com/office/powerpoint/2010/main" val="1109185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1109067"/>
            <a:ext cx="7763321"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Discussion: Improving Perceivability</a:t>
            </a:r>
            <a:endParaRPr lang="en-US" sz="2800" dirty="0"/>
          </a:p>
        </p:txBody>
      </p:sp>
      <p:sp>
        <p:nvSpPr>
          <p:cNvPr id="3" name="Shape 1"/>
          <p:cNvSpPr/>
          <p:nvPr/>
        </p:nvSpPr>
        <p:spPr>
          <a:xfrm>
            <a:off x="473943" y="1825303"/>
            <a:ext cx="2641774" cy="2209130"/>
          </a:xfrm>
          <a:prstGeom prst="roundRect">
            <a:avLst>
              <a:gd name="adj" fmla="val 2574"/>
            </a:avLst>
          </a:prstGeom>
          <a:solidFill>
            <a:srgbClr val="740B0B"/>
          </a:solidFill>
          <a:ln w="4763">
            <a:solidFill>
              <a:srgbClr val="C91313"/>
            </a:solidFill>
            <a:prstDash val="solid"/>
          </a:ln>
        </p:spPr>
      </p:sp>
      <p:sp>
        <p:nvSpPr>
          <p:cNvPr id="4" name="Shape 2"/>
          <p:cNvSpPr/>
          <p:nvPr/>
        </p:nvSpPr>
        <p:spPr>
          <a:xfrm>
            <a:off x="614065" y="1965424"/>
            <a:ext cx="406226" cy="406226"/>
          </a:xfrm>
          <a:prstGeom prst="roundRect">
            <a:avLst>
              <a:gd name="adj" fmla="val 14067117"/>
            </a:avLst>
          </a:prstGeom>
          <a:solidFill>
            <a:srgbClr val="C91313"/>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5760" y="2077120"/>
            <a:ext cx="182761" cy="182761"/>
          </a:xfrm>
          <a:prstGeom prst="rect">
            <a:avLst/>
          </a:prstGeom>
        </p:spPr>
      </p:pic>
      <p:sp>
        <p:nvSpPr>
          <p:cNvPr id="6" name="Text 3"/>
          <p:cNvSpPr/>
          <p:nvPr/>
        </p:nvSpPr>
        <p:spPr>
          <a:xfrm>
            <a:off x="614065" y="2507010"/>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Ad Platforms</a:t>
            </a:r>
            <a:endParaRPr lang="en-US" sz="1400" dirty="0"/>
          </a:p>
        </p:txBody>
      </p:sp>
      <p:sp>
        <p:nvSpPr>
          <p:cNvPr id="7" name="Text 4"/>
          <p:cNvSpPr/>
          <p:nvPr/>
        </p:nvSpPr>
        <p:spPr>
          <a:xfrm>
            <a:off x="614065" y="2810842"/>
            <a:ext cx="2361530" cy="1083469"/>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Platforms like Google and Taboola must create policies requiring meaningful ARIA-labels and rejecting ads with missing or generic attributes.</a:t>
            </a:r>
            <a:endParaRPr lang="en-US" sz="1050" dirty="0"/>
          </a:p>
        </p:txBody>
      </p:sp>
      <p:sp>
        <p:nvSpPr>
          <p:cNvPr id="8" name="Shape 5"/>
          <p:cNvSpPr/>
          <p:nvPr/>
        </p:nvSpPr>
        <p:spPr>
          <a:xfrm>
            <a:off x="3251076" y="1825303"/>
            <a:ext cx="2641774" cy="2209130"/>
          </a:xfrm>
          <a:prstGeom prst="roundRect">
            <a:avLst>
              <a:gd name="adj" fmla="val 2574"/>
            </a:avLst>
          </a:prstGeom>
          <a:solidFill>
            <a:srgbClr val="740B0B"/>
          </a:solidFill>
          <a:ln w="4763">
            <a:solidFill>
              <a:srgbClr val="C91313"/>
            </a:solidFill>
            <a:prstDash val="solid"/>
          </a:ln>
        </p:spPr>
      </p:sp>
      <p:sp>
        <p:nvSpPr>
          <p:cNvPr id="9" name="Shape 6"/>
          <p:cNvSpPr/>
          <p:nvPr/>
        </p:nvSpPr>
        <p:spPr>
          <a:xfrm>
            <a:off x="3391198" y="1965424"/>
            <a:ext cx="406226" cy="406226"/>
          </a:xfrm>
          <a:prstGeom prst="roundRect">
            <a:avLst>
              <a:gd name="adj" fmla="val 14067117"/>
            </a:avLst>
          </a:prstGeom>
          <a:solidFill>
            <a:srgbClr val="C91313"/>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893" y="2077120"/>
            <a:ext cx="182761" cy="182761"/>
          </a:xfrm>
          <a:prstGeom prst="rect">
            <a:avLst/>
          </a:prstGeom>
        </p:spPr>
      </p:pic>
      <p:sp>
        <p:nvSpPr>
          <p:cNvPr id="11" name="Text 7"/>
          <p:cNvSpPr/>
          <p:nvPr/>
        </p:nvSpPr>
        <p:spPr>
          <a:xfrm>
            <a:off x="3391198" y="2507010"/>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Advertisers</a:t>
            </a:r>
            <a:endParaRPr lang="en-US" sz="1400" dirty="0"/>
          </a:p>
        </p:txBody>
      </p:sp>
      <p:sp>
        <p:nvSpPr>
          <p:cNvPr id="12" name="Text 8"/>
          <p:cNvSpPr/>
          <p:nvPr/>
        </p:nvSpPr>
        <p:spPr>
          <a:xfrm>
            <a:off x="3391198" y="2810842"/>
            <a:ext cx="2361530"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Advertisers are paying for engagement; making content accessible ensures they don't lose the visually impaired demographic.</a:t>
            </a:r>
            <a:endParaRPr lang="en-US" sz="1050" dirty="0"/>
          </a:p>
        </p:txBody>
      </p:sp>
      <p:sp>
        <p:nvSpPr>
          <p:cNvPr id="13" name="Shape 9"/>
          <p:cNvSpPr/>
          <p:nvPr/>
        </p:nvSpPr>
        <p:spPr>
          <a:xfrm>
            <a:off x="6028209" y="1825303"/>
            <a:ext cx="2641848" cy="2209130"/>
          </a:xfrm>
          <a:prstGeom prst="roundRect">
            <a:avLst>
              <a:gd name="adj" fmla="val 2574"/>
            </a:avLst>
          </a:prstGeom>
          <a:solidFill>
            <a:srgbClr val="740B0B"/>
          </a:solidFill>
          <a:ln w="4763">
            <a:solidFill>
              <a:srgbClr val="C91313"/>
            </a:solidFill>
            <a:prstDash val="solid"/>
          </a:ln>
        </p:spPr>
      </p:sp>
      <p:sp>
        <p:nvSpPr>
          <p:cNvPr id="14" name="Shape 10"/>
          <p:cNvSpPr/>
          <p:nvPr/>
        </p:nvSpPr>
        <p:spPr>
          <a:xfrm>
            <a:off x="6168330" y="1965424"/>
            <a:ext cx="406226" cy="406226"/>
          </a:xfrm>
          <a:prstGeom prst="roundRect">
            <a:avLst>
              <a:gd name="adj" fmla="val 14067117"/>
            </a:avLst>
          </a:prstGeom>
          <a:solidFill>
            <a:srgbClr val="C91313"/>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0026" y="2077120"/>
            <a:ext cx="182761" cy="182761"/>
          </a:xfrm>
          <a:prstGeom prst="rect">
            <a:avLst/>
          </a:prstGeom>
        </p:spPr>
      </p:pic>
      <p:sp>
        <p:nvSpPr>
          <p:cNvPr id="16" name="Text 11"/>
          <p:cNvSpPr/>
          <p:nvPr/>
        </p:nvSpPr>
        <p:spPr>
          <a:xfrm>
            <a:off x="6168330" y="2507010"/>
            <a:ext cx="1781696" cy="222647"/>
          </a:xfrm>
          <a:prstGeom prst="rect">
            <a:avLst/>
          </a:prstGeom>
          <a:noFill/>
          <a:ln/>
        </p:spPr>
        <p:txBody>
          <a:bodyPr wrap="none" lIns="0" tIns="0" rIns="0" bIns="0" rtlCol="0" anchor="t"/>
          <a:lstStyle/>
          <a:p>
            <a:pPr marL="0" indent="0" algn="l">
              <a:lnSpc>
                <a:spcPts val="1750"/>
              </a:lnSpc>
              <a:buNone/>
            </a:pPr>
            <a:r>
              <a:rPr lang="en-US" sz="1400" dirty="0">
                <a:solidFill>
                  <a:srgbClr val="FFE5E5"/>
                </a:solidFill>
                <a:latin typeface="Dela Gothic One" pitchFamily="34" charset="0"/>
                <a:ea typeface="Dela Gothic One" pitchFamily="34" charset="-122"/>
                <a:cs typeface="Dela Gothic One" pitchFamily="34" charset="-120"/>
              </a:rPr>
              <a:t>Website Owners</a:t>
            </a:r>
            <a:endParaRPr lang="en-US" sz="1400" dirty="0"/>
          </a:p>
        </p:txBody>
      </p:sp>
      <p:sp>
        <p:nvSpPr>
          <p:cNvPr id="17" name="Text 12"/>
          <p:cNvSpPr/>
          <p:nvPr/>
        </p:nvSpPr>
        <p:spPr>
          <a:xfrm>
            <a:off x="6168330" y="2810842"/>
            <a:ext cx="2361605" cy="866775"/>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Website owners must carefully consider which advertising networks they partner with, prioritizing those that enforce accessibility standards.</a:t>
            </a:r>
            <a:endParaRPr lang="en-US" sz="1050" dirty="0"/>
          </a:p>
        </p:txBody>
      </p:sp>
    </p:spTree>
    <p:extLst>
      <p:ext uri="{BB962C8B-B14F-4D97-AF65-F5344CB8AC3E}">
        <p14:creationId xmlns:p14="http://schemas.microsoft.com/office/powerpoint/2010/main" val="2309431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73943" y="777553"/>
            <a:ext cx="4767114" cy="890885"/>
          </a:xfrm>
          <a:prstGeom prst="rect">
            <a:avLst/>
          </a:prstGeom>
          <a:noFill/>
          <a:ln/>
        </p:spPr>
        <p:txBody>
          <a:bodyPr wrap="squar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Discussion: Improving Navigability</a:t>
            </a:r>
            <a:endParaRPr lang="en-US" sz="2800" dirty="0"/>
          </a:p>
        </p:txBody>
      </p:sp>
      <p:sp>
        <p:nvSpPr>
          <p:cNvPr id="4" name="Text 1"/>
          <p:cNvSpPr/>
          <p:nvPr/>
        </p:nvSpPr>
        <p:spPr>
          <a:xfrm>
            <a:off x="473943" y="2006873"/>
            <a:ext cx="2218358" cy="534442"/>
          </a:xfrm>
          <a:prstGeom prst="rect">
            <a:avLst/>
          </a:prstGeom>
          <a:noFill/>
          <a:ln/>
        </p:spPr>
        <p:txBody>
          <a:bodyPr wrap="squar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Bypass Blocks for Focus Traps</a:t>
            </a:r>
            <a:endParaRPr lang="en-US" sz="1650" dirty="0"/>
          </a:p>
        </p:txBody>
      </p:sp>
      <p:sp>
        <p:nvSpPr>
          <p:cNvPr id="5" name="Text 2"/>
          <p:cNvSpPr/>
          <p:nvPr/>
        </p:nvSpPr>
        <p:spPr>
          <a:xfrm>
            <a:off x="473943" y="2676674"/>
            <a:ext cx="2218358" cy="1300163"/>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To prevent focus traps, website owners should implement "skip links" (Bypass Blocks). This allows users to easily jump over an ad unit containing 40+ interactive elements with a single keystroke.</a:t>
            </a:r>
            <a:endParaRPr lang="en-US" sz="1050" dirty="0"/>
          </a:p>
        </p:txBody>
      </p:sp>
      <p:sp>
        <p:nvSpPr>
          <p:cNvPr id="6" name="Text 3"/>
          <p:cNvSpPr/>
          <p:nvPr/>
        </p:nvSpPr>
        <p:spPr>
          <a:xfrm>
            <a:off x="3027462" y="2006873"/>
            <a:ext cx="2218358" cy="801663"/>
          </a:xfrm>
          <a:prstGeom prst="rect">
            <a:avLst/>
          </a:prstGeom>
          <a:noFill/>
          <a:ln/>
        </p:spPr>
        <p:txBody>
          <a:bodyPr wrap="square" lIns="0" tIns="0" rIns="0" bIns="0" rtlCol="0" anchor="t"/>
          <a:lstStyle/>
          <a:p>
            <a:pPr marL="0" indent="0" algn="l">
              <a:lnSpc>
                <a:spcPts val="2100"/>
              </a:lnSpc>
              <a:buNone/>
            </a:pPr>
            <a:r>
              <a:rPr lang="en-US" sz="1650" dirty="0">
                <a:solidFill>
                  <a:srgbClr val="FAEBEB"/>
                </a:solidFill>
                <a:latin typeface="Dela Gothic One" pitchFamily="34" charset="0"/>
                <a:ea typeface="Dela Gothic One" pitchFamily="34" charset="-122"/>
                <a:cs typeface="Dela Gothic One" pitchFamily="34" charset="-120"/>
              </a:rPr>
              <a:t>Screen Reader Software Enhancements</a:t>
            </a:r>
            <a:endParaRPr lang="en-US" sz="1650" dirty="0"/>
          </a:p>
        </p:txBody>
      </p:sp>
      <p:sp>
        <p:nvSpPr>
          <p:cNvPr id="7" name="Text 4"/>
          <p:cNvSpPr/>
          <p:nvPr/>
        </p:nvSpPr>
        <p:spPr>
          <a:xfrm>
            <a:off x="3027462" y="2943895"/>
            <a:ext cx="2218358" cy="1300163"/>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Screen reader software companies could develop specific "back out" shortcuts. This would allow users who accidentally enter an ad iframe to immediately return to the parent content.</a:t>
            </a:r>
            <a:endParaRPr lang="en-US" sz="1050" dirty="0"/>
          </a:p>
        </p:txBody>
      </p:sp>
    </p:spTree>
    <p:extLst>
      <p:ext uri="{BB962C8B-B14F-4D97-AF65-F5344CB8AC3E}">
        <p14:creationId xmlns:p14="http://schemas.microsoft.com/office/powerpoint/2010/main" val="4154512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612577"/>
            <a:ext cx="6271915" cy="445443"/>
          </a:xfrm>
          <a:prstGeom prst="rect">
            <a:avLst/>
          </a:prstGeom>
          <a:noFill/>
          <a:ln/>
        </p:spPr>
        <p:txBody>
          <a:bodyPr wrap="none" lIns="0" tIns="0" rIns="0" bIns="0" rtlCol="0" anchor="t"/>
          <a:lstStyle/>
          <a:p>
            <a:pPr marL="0" indent="0" algn="l">
              <a:lnSpc>
                <a:spcPts val="3500"/>
              </a:lnSpc>
              <a:buNone/>
            </a:pPr>
            <a:r>
              <a:rPr lang="en-US" sz="2800" dirty="0">
                <a:solidFill>
                  <a:srgbClr val="FAEBEB"/>
                </a:solidFill>
                <a:latin typeface="Dela Gothic One" pitchFamily="34" charset="0"/>
                <a:ea typeface="Dela Gothic One" pitchFamily="34" charset="-122"/>
                <a:cs typeface="Dela Gothic One" pitchFamily="34" charset="-120"/>
              </a:rPr>
              <a:t>Critical Analysis &amp; Conclusion</a:t>
            </a:r>
            <a:endParaRPr lang="en-US" sz="2800" dirty="0"/>
          </a:p>
        </p:txBody>
      </p:sp>
      <p:sp>
        <p:nvSpPr>
          <p:cNvPr id="3" name="Text 1"/>
          <p:cNvSpPr/>
          <p:nvPr/>
        </p:nvSpPr>
        <p:spPr>
          <a:xfrm>
            <a:off x="473943" y="1396454"/>
            <a:ext cx="2742084" cy="267221"/>
          </a:xfrm>
          <a:prstGeom prst="rect">
            <a:avLst/>
          </a:prstGeom>
          <a:noFill/>
          <a:ln/>
        </p:spPr>
        <p:txBody>
          <a:bodyPr wrap="none" lIns="0" tIns="0" rIns="0" bIns="0" rtlCol="0" anchor="t"/>
          <a:lstStyle/>
          <a:p>
            <a:pPr marL="0" indent="0" algn="l">
              <a:lnSpc>
                <a:spcPts val="2100"/>
              </a:lnSpc>
              <a:buNone/>
            </a:pPr>
            <a:r>
              <a:rPr lang="en-US" sz="1650" dirty="0">
                <a:solidFill>
                  <a:srgbClr val="C91313"/>
                </a:solidFill>
                <a:latin typeface="Dela Gothic One" pitchFamily="34" charset="0"/>
                <a:ea typeface="Dela Gothic One" pitchFamily="34" charset="-122"/>
                <a:cs typeface="Dela Gothic One" pitchFamily="34" charset="-120"/>
              </a:rPr>
              <a:t>✓</a:t>
            </a:r>
            <a:r>
              <a:rPr lang="en-US" sz="1650" dirty="0">
                <a:solidFill>
                  <a:srgbClr val="FAEBEB"/>
                </a:solidFill>
                <a:latin typeface="Dela Gothic One" pitchFamily="34" charset="0"/>
                <a:ea typeface="Dela Gothic One" pitchFamily="34" charset="-122"/>
                <a:cs typeface="Dela Gothic One" pitchFamily="34" charset="-120"/>
              </a:rPr>
              <a:t> Research Strengths</a:t>
            </a:r>
            <a:endParaRPr lang="en-US" sz="1650" dirty="0"/>
          </a:p>
        </p:txBody>
      </p:sp>
      <p:sp>
        <p:nvSpPr>
          <p:cNvPr id="4" name="Text 2"/>
          <p:cNvSpPr/>
          <p:nvPr/>
        </p:nvSpPr>
        <p:spPr>
          <a:xfrm>
            <a:off x="473943" y="1799034"/>
            <a:ext cx="3932858" cy="1347490"/>
          </a:xfrm>
          <a:prstGeom prst="rect">
            <a:avLst/>
          </a:prstGeom>
          <a:noFill/>
          <a:ln/>
        </p:spPr>
        <p:txBody>
          <a:bodyPr wrap="square" lIns="0" tIns="0" rIns="0" bIns="0" rtlCol="0" anchor="t"/>
          <a:lstStyle/>
          <a:p>
            <a:pPr marL="342900" indent="-342900" algn="l">
              <a:lnSpc>
                <a:spcPts val="1700"/>
              </a:lnSpc>
              <a:buSzPct val="100000"/>
              <a:buChar char="•"/>
            </a:pPr>
            <a:r>
              <a:rPr lang="en-US" sz="1050" b="1" dirty="0">
                <a:solidFill>
                  <a:srgbClr val="FFE5E5"/>
                </a:solidFill>
                <a:latin typeface="DM Sans" pitchFamily="34" charset="0"/>
                <a:ea typeface="DM Sans" pitchFamily="34" charset="-122"/>
                <a:cs typeface="DM Sans" pitchFamily="34" charset="-120"/>
              </a:rPr>
              <a:t>Powersful Mixed-Methods Approach:</a:t>
            </a:r>
            <a:r>
              <a:rPr lang="en-US" sz="1050" dirty="0">
                <a:solidFill>
                  <a:srgbClr val="FFE5E5"/>
                </a:solidFill>
                <a:latin typeface="DM Sans" pitchFamily="34" charset="0"/>
                <a:ea typeface="DM Sans" pitchFamily="34" charset="-122"/>
                <a:cs typeface="DM Sans" pitchFamily="34" charset="-120"/>
              </a:rPr>
              <a:t> Successfully pairs massive automated scraping with qualitative human interviews to prove not just what is broken, but why it matters.</a:t>
            </a:r>
            <a:endParaRPr lang="en-US" sz="1050" dirty="0"/>
          </a:p>
          <a:p>
            <a:pPr marL="342900" indent="-342900" algn="l">
              <a:lnSpc>
                <a:spcPts val="1700"/>
              </a:lnSpc>
              <a:buSzPct val="100000"/>
              <a:buChar char="•"/>
            </a:pPr>
            <a:r>
              <a:rPr lang="en-US" sz="1050" b="1" dirty="0">
                <a:solidFill>
                  <a:srgbClr val="FFE5E5"/>
                </a:solidFill>
                <a:latin typeface="DM Sans" pitchFamily="34" charset="0"/>
                <a:ea typeface="DM Sans" pitchFamily="34" charset="-122"/>
                <a:cs typeface="DM Sans" pitchFamily="34" charset="-120"/>
              </a:rPr>
              <a:t>Actionable Insights:</a:t>
            </a:r>
            <a:r>
              <a:rPr lang="en-US" sz="1050" dirty="0">
                <a:solidFill>
                  <a:srgbClr val="FFE5E5"/>
                </a:solidFill>
                <a:latin typeface="DM Sans" pitchFamily="34" charset="0"/>
                <a:ea typeface="DM Sans" pitchFamily="34" charset="-122"/>
                <a:cs typeface="DM Sans" pitchFamily="34" charset="-120"/>
              </a:rPr>
              <a:t> Proves that major accessibility wins require simple HTML fixes, not complex engineering.</a:t>
            </a:r>
            <a:endParaRPr lang="en-US" sz="1050" dirty="0"/>
          </a:p>
        </p:txBody>
      </p:sp>
      <p:sp>
        <p:nvSpPr>
          <p:cNvPr id="5" name="Text 3"/>
          <p:cNvSpPr/>
          <p:nvPr/>
        </p:nvSpPr>
        <p:spPr>
          <a:xfrm>
            <a:off x="4741962" y="1396454"/>
            <a:ext cx="3177406" cy="286271"/>
          </a:xfrm>
          <a:prstGeom prst="rect">
            <a:avLst/>
          </a:prstGeom>
          <a:noFill/>
          <a:ln/>
        </p:spPr>
        <p:txBody>
          <a:bodyPr wrap="none" lIns="0" tIns="0" rIns="0" bIns="0" rtlCol="0" anchor="t"/>
          <a:lstStyle/>
          <a:p>
            <a:pPr marL="0" indent="0" algn="l">
              <a:lnSpc>
                <a:spcPts val="2100"/>
              </a:lnSpc>
              <a:buNone/>
            </a:pPr>
            <a:r>
              <a:rPr lang="en-US" sz="1650" dirty="0">
                <a:solidFill>
                  <a:srgbClr val="000000"/>
                </a:solidFill>
                <a:latin typeface="Dela Gothic One" pitchFamily="34" charset="0"/>
                <a:ea typeface="Dela Gothic One" pitchFamily="34" charset="-122"/>
                <a:cs typeface="Dela Gothic One" pitchFamily="34" charset="-120"/>
              </a:rPr>
              <a:t>⚠</a:t>
            </a:r>
            <a:r>
              <a:rPr lang="en-US" sz="1650" dirty="0">
                <a:solidFill>
                  <a:srgbClr val="FAEBEB"/>
                </a:solidFill>
                <a:latin typeface="Dela Gothic One" pitchFamily="34" charset="0"/>
                <a:ea typeface="Dela Gothic One" pitchFamily="34" charset="-122"/>
                <a:cs typeface="Dela Gothic One" pitchFamily="34" charset="-120"/>
              </a:rPr>
              <a:t> Research Weaknesses</a:t>
            </a:r>
            <a:endParaRPr lang="en-US" sz="1650" dirty="0"/>
          </a:p>
        </p:txBody>
      </p:sp>
      <p:sp>
        <p:nvSpPr>
          <p:cNvPr id="6" name="Text 4"/>
          <p:cNvSpPr/>
          <p:nvPr/>
        </p:nvSpPr>
        <p:spPr>
          <a:xfrm>
            <a:off x="4741962" y="1818084"/>
            <a:ext cx="3932858" cy="1130796"/>
          </a:xfrm>
          <a:prstGeom prst="rect">
            <a:avLst/>
          </a:prstGeom>
          <a:noFill/>
          <a:ln/>
        </p:spPr>
        <p:txBody>
          <a:bodyPr wrap="square" lIns="0" tIns="0" rIns="0" bIns="0" rtlCol="0" anchor="t"/>
          <a:lstStyle/>
          <a:p>
            <a:pPr marL="342900" indent="-342900" algn="l">
              <a:lnSpc>
                <a:spcPts val="1700"/>
              </a:lnSpc>
              <a:buSzPct val="100000"/>
              <a:buChar char="•"/>
            </a:pPr>
            <a:r>
              <a:rPr lang="en-US" sz="1050" b="1" dirty="0">
                <a:solidFill>
                  <a:srgbClr val="FFE5E5"/>
                </a:solidFill>
                <a:latin typeface="DM Sans" pitchFamily="34" charset="0"/>
                <a:ea typeface="DM Sans" pitchFamily="34" charset="-122"/>
                <a:cs typeface="DM Sans" pitchFamily="34" charset="-120"/>
              </a:rPr>
              <a:t>Lack of Dynamic Ad Analysis:</a:t>
            </a:r>
            <a:r>
              <a:rPr lang="en-US" sz="1050" dirty="0">
                <a:solidFill>
                  <a:srgbClr val="FFE5E5"/>
                </a:solidFill>
                <a:latin typeface="DM Sans" pitchFamily="34" charset="0"/>
                <a:ea typeface="DM Sans" pitchFamily="34" charset="-122"/>
                <a:cs typeface="DM Sans" pitchFamily="34" charset="-120"/>
              </a:rPr>
              <a:t> The failure to capture pop-ups and video ads programmatically leaves a significant portion of the most frustrating ad behaviors unquantified.</a:t>
            </a:r>
            <a:endParaRPr lang="en-US" sz="1050" dirty="0"/>
          </a:p>
          <a:p>
            <a:pPr marL="342900" indent="-342900" algn="l">
              <a:lnSpc>
                <a:spcPts val="1700"/>
              </a:lnSpc>
              <a:buSzPct val="100000"/>
              <a:buChar char="•"/>
            </a:pPr>
            <a:r>
              <a:rPr lang="en-US" sz="1050" b="1" dirty="0">
                <a:solidFill>
                  <a:srgbClr val="FFE5E5"/>
                </a:solidFill>
                <a:latin typeface="DM Sans" pitchFamily="34" charset="0"/>
                <a:ea typeface="DM Sans" pitchFamily="34" charset="-122"/>
                <a:cs typeface="DM Sans" pitchFamily="34" charset="-120"/>
              </a:rPr>
              <a:t>Limited Scope:</a:t>
            </a:r>
            <a:r>
              <a:rPr lang="en-US" sz="1050" dirty="0">
                <a:solidFill>
                  <a:srgbClr val="FFE5E5"/>
                </a:solidFill>
                <a:latin typeface="DM Sans" pitchFamily="34" charset="0"/>
                <a:ea typeface="DM Sans" pitchFamily="34" charset="-122"/>
                <a:cs typeface="DM Sans" pitchFamily="34" charset="-120"/>
              </a:rPr>
              <a:t> The complete lack of international and non-English ad ecosystem analysis.</a:t>
            </a:r>
            <a:endParaRPr lang="en-US" sz="1050" dirty="0"/>
          </a:p>
        </p:txBody>
      </p:sp>
      <p:sp>
        <p:nvSpPr>
          <p:cNvPr id="7" name="Shape 5"/>
          <p:cNvSpPr/>
          <p:nvPr/>
        </p:nvSpPr>
        <p:spPr>
          <a:xfrm>
            <a:off x="473943" y="3379961"/>
            <a:ext cx="8196114" cy="10120"/>
          </a:xfrm>
          <a:prstGeom prst="rect">
            <a:avLst/>
          </a:prstGeom>
          <a:solidFill>
            <a:srgbClr val="FFE5E5">
              <a:alpha val="50000"/>
            </a:srgbClr>
          </a:solidFill>
          <a:ln/>
        </p:spPr>
      </p:sp>
      <p:sp>
        <p:nvSpPr>
          <p:cNvPr id="8" name="Text 6"/>
          <p:cNvSpPr/>
          <p:nvPr/>
        </p:nvSpPr>
        <p:spPr>
          <a:xfrm>
            <a:off x="677019" y="3728517"/>
            <a:ext cx="7993038" cy="650081"/>
          </a:xfrm>
          <a:prstGeom prst="rect">
            <a:avLst/>
          </a:prstGeom>
          <a:noFill/>
          <a:ln/>
        </p:spPr>
        <p:txBody>
          <a:bodyPr wrap="square" lIns="0" tIns="0" rIns="0" bIns="0" rtlCol="0" anchor="t"/>
          <a:lstStyle/>
          <a:p>
            <a:pPr marL="0" indent="0" algn="l">
              <a:lnSpc>
                <a:spcPts val="1700"/>
              </a:lnSpc>
              <a:buNone/>
            </a:pPr>
            <a:r>
              <a:rPr lang="en-US" sz="1050" b="1" dirty="0">
                <a:solidFill>
                  <a:srgbClr val="FFE5E5"/>
                </a:solidFill>
                <a:latin typeface="DM Sans" pitchFamily="34" charset="0"/>
                <a:ea typeface="DM Sans" pitchFamily="34" charset="-122"/>
                <a:cs typeface="DM Sans" pitchFamily="34" charset="-120"/>
              </a:rPr>
              <a:t>Conclusion:</a:t>
            </a:r>
            <a:r>
              <a:rPr lang="en-US" sz="1050" dirty="0">
                <a:solidFill>
                  <a:srgbClr val="FFE5E5"/>
                </a:solidFill>
                <a:latin typeface="DM Sans" pitchFamily="34" charset="0"/>
                <a:ea typeface="DM Sans" pitchFamily="34" charset="-122"/>
                <a:cs typeface="DM Sans" pitchFamily="34" charset="-120"/>
              </a:rPr>
              <a:t> This research demonstrates that accessible advertising is entirely achievable with existing technologies and simple HTML improvements. The burden lies with ad platforms, advertisers, and website owners to prioritize accessibility standards.</a:t>
            </a:r>
            <a:endParaRPr lang="en-US" sz="1050" dirty="0"/>
          </a:p>
        </p:txBody>
      </p:sp>
      <p:sp>
        <p:nvSpPr>
          <p:cNvPr id="9" name="Shape 7"/>
          <p:cNvSpPr/>
          <p:nvPr/>
        </p:nvSpPr>
        <p:spPr>
          <a:xfrm>
            <a:off x="473943" y="3576191"/>
            <a:ext cx="19050" cy="954732"/>
          </a:xfrm>
          <a:prstGeom prst="rect">
            <a:avLst/>
          </a:prstGeom>
          <a:solidFill>
            <a:srgbClr val="C91313"/>
          </a:solidFill>
          <a:ln/>
        </p:spPr>
      </p:sp>
    </p:spTree>
    <p:extLst>
      <p:ext uri="{BB962C8B-B14F-4D97-AF65-F5344CB8AC3E}">
        <p14:creationId xmlns:p14="http://schemas.microsoft.com/office/powerpoint/2010/main" val="3472590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73943" y="1623566"/>
            <a:ext cx="4767114" cy="890885"/>
          </a:xfrm>
          <a:prstGeom prst="rect">
            <a:avLst/>
          </a:prstGeom>
          <a:noFill/>
          <a:ln/>
        </p:spPr>
        <p:txBody>
          <a:bodyPr wrap="none" lIns="0" tIns="0" rIns="0" bIns="0" rtlCol="0" anchor="t"/>
          <a:lstStyle/>
          <a:p>
            <a:pPr marL="0" indent="0" algn="l">
              <a:lnSpc>
                <a:spcPts val="7000"/>
              </a:lnSpc>
              <a:buNone/>
            </a:pPr>
            <a:r>
              <a:rPr lang="en-US" sz="5600" dirty="0">
                <a:solidFill>
                  <a:srgbClr val="FAEBEB"/>
                </a:solidFill>
                <a:latin typeface="Dela Gothic One" pitchFamily="34" charset="0"/>
                <a:ea typeface="Dela Gothic One" pitchFamily="34" charset="-122"/>
                <a:cs typeface="Dela Gothic One" pitchFamily="34" charset="-120"/>
              </a:rPr>
              <a:t>Thank You</a:t>
            </a:r>
            <a:endParaRPr lang="en-US" sz="5600" dirty="0"/>
          </a:p>
        </p:txBody>
      </p:sp>
      <p:sp>
        <p:nvSpPr>
          <p:cNvPr id="4" name="Text 1"/>
          <p:cNvSpPr/>
          <p:nvPr/>
        </p:nvSpPr>
        <p:spPr>
          <a:xfrm>
            <a:off x="473943" y="2717527"/>
            <a:ext cx="4767114" cy="433388"/>
          </a:xfrm>
          <a:prstGeom prst="rect">
            <a:avLst/>
          </a:prstGeom>
          <a:noFill/>
          <a:ln/>
        </p:spPr>
        <p:txBody>
          <a:bodyPr wrap="square" lIns="0" tIns="0" rIns="0" bIns="0" rtlCol="0" anchor="t"/>
          <a:lstStyle/>
          <a:p>
            <a:pPr marL="0" indent="0" algn="l">
              <a:lnSpc>
                <a:spcPts val="1700"/>
              </a:lnSpc>
              <a:buNone/>
            </a:pPr>
            <a:r>
              <a:rPr lang="en-US" sz="1050" dirty="0">
                <a:solidFill>
                  <a:srgbClr val="FFE5E5"/>
                </a:solidFill>
                <a:latin typeface="DM Sans" pitchFamily="34" charset="0"/>
                <a:ea typeface="DM Sans" pitchFamily="34" charset="-122"/>
                <a:cs typeface="DM Sans" pitchFamily="34" charset="-120"/>
              </a:rPr>
              <a:t>Thank you for your time and attention. We appreciate the opportunity to share these insights with you.</a:t>
            </a:r>
            <a:endParaRPr lang="en-US" sz="1050" dirty="0"/>
          </a:p>
        </p:txBody>
      </p:sp>
      <p:sp>
        <p:nvSpPr>
          <p:cNvPr id="5" name="Text 2"/>
          <p:cNvSpPr/>
          <p:nvPr/>
        </p:nvSpPr>
        <p:spPr>
          <a:xfrm>
            <a:off x="473943" y="3303240"/>
            <a:ext cx="4767114" cy="216694"/>
          </a:xfrm>
          <a:prstGeom prst="rect">
            <a:avLst/>
          </a:prstGeom>
          <a:noFill/>
          <a:ln/>
        </p:spPr>
        <p:txBody>
          <a:bodyPr wrap="none" lIns="0" tIns="0" rIns="0" bIns="0" rtlCol="0" anchor="t"/>
          <a:lstStyle/>
          <a:p>
            <a:pPr marL="0" indent="0" algn="l">
              <a:lnSpc>
                <a:spcPts val="1700"/>
              </a:lnSpc>
              <a:buNone/>
            </a:pPr>
            <a:endParaRPr lang="en-US" sz="1050" dirty="0"/>
          </a:p>
        </p:txBody>
      </p:sp>
    </p:spTree>
    <p:extLst>
      <p:ext uri="{BB962C8B-B14F-4D97-AF65-F5344CB8AC3E}">
        <p14:creationId xmlns:p14="http://schemas.microsoft.com/office/powerpoint/2010/main" val="465808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2630</Words>
  <Application>Microsoft Office PowerPoint</Application>
  <PresentationFormat>On-screen Show (16:9)</PresentationFormat>
  <Paragraphs>217</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DM Sans</vt:lpstr>
      <vt:lpstr>Arial</vt:lpstr>
      <vt:lpstr>Consolas</vt:lpstr>
      <vt:lpstr>Dela Gothic One</vt:lpstr>
      <vt:lpstr>Dela Gothic One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prayansh kumar</cp:lastModifiedBy>
  <cp:revision>1</cp:revision>
  <dcterms:created xsi:type="dcterms:W3CDTF">2026-05-10T15:38:11Z</dcterms:created>
  <dcterms:modified xsi:type="dcterms:W3CDTF">2026-05-10T16:35:13Z</dcterms:modified>
</cp:coreProperties>
</file>